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f0fe892744629" /><Relationship Type="http://schemas.openxmlformats.org/officeDocument/2006/relationships/extended-properties" Target="/docProps/app.xml" Id="R7a5e2169c82c4cf8" /><Relationship Type="http://schemas.openxmlformats.org/officeDocument/2006/relationships/officeDocument" Target="/ppt/presentation.xml" Id="R68554b0ef49244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30106233ba48e3"/>
  </p:sldMasterIdLst>
  <p:notesMasterIdLst>
    <p:notesMasterId xmlns:r="http://schemas.openxmlformats.org/officeDocument/2006/relationships" r:id="R37538627d37241b2"/>
  </p:notesMasterIdLst>
  <p:sldIdLst>
    <p:sldId xmlns:r="http://schemas.openxmlformats.org/officeDocument/2006/relationships" id="256" r:id="R6b78cd87afcd4655"/>
    <p:sldId xmlns:r="http://schemas.openxmlformats.org/officeDocument/2006/relationships" id="257" r:id="R51285db9f88d483a"/>
    <p:sldId xmlns:r="http://schemas.openxmlformats.org/officeDocument/2006/relationships" id="258" r:id="Rf0314d068fe74e3e"/>
    <p:sldId xmlns:r="http://schemas.openxmlformats.org/officeDocument/2006/relationships" id="259" r:id="R63cdfea229d44699"/>
    <p:sldId xmlns:r="http://schemas.openxmlformats.org/officeDocument/2006/relationships" id="260" r:id="Rbba89ab4f60e4f1a"/>
    <p:sldId xmlns:r="http://schemas.openxmlformats.org/officeDocument/2006/relationships" id="261" r:id="R8fe529fe4d884d4a"/>
    <p:sldId xmlns:r="http://schemas.openxmlformats.org/officeDocument/2006/relationships" id="262" r:id="R801d4333d1b749cb"/>
    <p:sldId xmlns:r="http://schemas.openxmlformats.org/officeDocument/2006/relationships" id="263" r:id="R77d78f7ed4fc474b"/>
    <p:sldId xmlns:r="http://schemas.openxmlformats.org/officeDocument/2006/relationships" id="264" r:id="Reb63fd3b3ed0465a"/>
    <p:sldId xmlns:r="http://schemas.openxmlformats.org/officeDocument/2006/relationships" id="265" r:id="R04102db8fab84a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6eec7df103439a" /><Relationship Type="http://schemas.openxmlformats.org/officeDocument/2006/relationships/slideMaster" Target="/ppt/slideMasters/slideMaster1.xml" Id="R8f30106233ba48e3" /><Relationship Type="http://schemas.openxmlformats.org/officeDocument/2006/relationships/notesMaster" Target="/ppt/notesMasters/notesMaster1.xml" Id="R37538627d37241b2" /><Relationship Type="http://schemas.openxmlformats.org/officeDocument/2006/relationships/presProps" Target="/ppt/presProps.xml" Id="R7da2ee76205c4de4" /><Relationship Type="http://schemas.openxmlformats.org/officeDocument/2006/relationships/tableStyles" Target="/ppt/tableStyles.xml" Id="Rd819453c0bcb4e47" /><Relationship Type="http://schemas.openxmlformats.org/officeDocument/2006/relationships/slide" Target="/ppt/slides/slide1.xml" Id="R6b78cd87afcd4655" /><Relationship Type="http://schemas.openxmlformats.org/officeDocument/2006/relationships/slide" Target="/ppt/slides/slide2.xml" Id="R51285db9f88d483a" /><Relationship Type="http://schemas.openxmlformats.org/officeDocument/2006/relationships/slide" Target="/ppt/slides/slide3.xml" Id="Rf0314d068fe74e3e" /><Relationship Type="http://schemas.openxmlformats.org/officeDocument/2006/relationships/slide" Target="/ppt/slides/slide4.xml" Id="R63cdfea229d44699" /><Relationship Type="http://schemas.openxmlformats.org/officeDocument/2006/relationships/slide" Target="/ppt/slides/slide5.xml" Id="Rbba89ab4f60e4f1a" /><Relationship Type="http://schemas.openxmlformats.org/officeDocument/2006/relationships/slide" Target="/ppt/slides/slide6.xml" Id="R8fe529fe4d884d4a" /><Relationship Type="http://schemas.openxmlformats.org/officeDocument/2006/relationships/slide" Target="/ppt/slides/slide7.xml" Id="R801d4333d1b749cb" /><Relationship Type="http://schemas.openxmlformats.org/officeDocument/2006/relationships/slide" Target="/ppt/slides/slide8.xml" Id="R77d78f7ed4fc474b" /><Relationship Type="http://schemas.openxmlformats.org/officeDocument/2006/relationships/slide" Target="/ppt/slides/slide9.xml" Id="Reb63fd3b3ed0465a" /><Relationship Type="http://schemas.openxmlformats.org/officeDocument/2006/relationships/slide" Target="/ppt/slides/slide10.xml" Id="R04102db8fab8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46d210c53e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7e7cecc4a24df3" /><Relationship Type="http://schemas.openxmlformats.org/officeDocument/2006/relationships/notesMaster" Target="/ppt/notesMasters/notesMaster1.xml" Id="Rd80201dbdf654c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26513b6fae4e19" /><Relationship Type="http://schemas.openxmlformats.org/officeDocument/2006/relationships/notesMaster" Target="/ppt/notesMasters/notesMaster1.xml" Id="Rf8c9907155c448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b01dd1d269440c" /><Relationship Type="http://schemas.openxmlformats.org/officeDocument/2006/relationships/notesMaster" Target="/ppt/notesMasters/notesMaster1.xml" Id="Ra2bce001137b41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cf11419da341a6" /><Relationship Type="http://schemas.openxmlformats.org/officeDocument/2006/relationships/notesMaster" Target="/ppt/notesMasters/notesMaster1.xml" Id="R8d8abcc9cd0047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e8271ffb6489e" /><Relationship Type="http://schemas.openxmlformats.org/officeDocument/2006/relationships/notesMaster" Target="/ppt/notesMasters/notesMaster1.xml" Id="R88a1849b33514e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0e02dedcbc4db0" /><Relationship Type="http://schemas.openxmlformats.org/officeDocument/2006/relationships/notesMaster" Target="/ppt/notesMasters/notesMaster1.xml" Id="R736a33d0abbe4c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08d9c1e634529" /><Relationship Type="http://schemas.openxmlformats.org/officeDocument/2006/relationships/notesMaster" Target="/ppt/notesMasters/notesMaster1.xml" Id="R71cde22bf54e43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44daeaaed94337" /><Relationship Type="http://schemas.openxmlformats.org/officeDocument/2006/relationships/notesMaster" Target="/ppt/notesMasters/notesMaster1.xml" Id="R7b8fafed338347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453ba577854f40" /><Relationship Type="http://schemas.openxmlformats.org/officeDocument/2006/relationships/notesMaster" Target="/ppt/notesMasters/notesMaster1.xml" Id="Re797ee668a28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a9b6ca4cc54d94" /><Relationship Type="http://schemas.openxmlformats.org/officeDocument/2006/relationships/notesMaster" Target="/ppt/notesMasters/notesMaster1.xml" Id="R35f2c2ff212f47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event and track naming: https://buidl.creditcoin.org/</a:t>
            </a:r>
          </a:p>
          <a:p xmlns:a="http://schemas.openxmlformats.org/drawingml/2006/main">
            <a:r>
              <a:t>- Repository: https://github.com/Vastargazing/Cr3dX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framing and trust boundary: repository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Architecture and trust boundary: repository README.md</a:t>
            </a:r>
          </a:p>
          <a:p xmlns:a="http://schemas.openxmlformats.org/drawingml/2006/main">
            <a:r>
              <a:t>- Attestcoin integration details: repository docs/ATTESTCOIN_INTEGRATION.md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Accepted live evidence: https://github.com/Vastargazing/Cr3dX/blob/main/docs/STATUS.md</a:t>
            </a:r>
          </a:p>
          <a:p xmlns:a="http://schemas.openxmlformats.org/drawingml/2006/main">
            <a:r>
              <a:t>- Creditcoin destination transactions are linked on-slide.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Trust boundary: repository README.md and docs/audit/attestcoin-integration-summary.md</a:t>
            </a:r>
          </a:p>
          <a:p xmlns:a="http://schemas.openxmlformats.org/drawingml/2006/main">
            <a:r>
              <a:t>- No external smart-contract audit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Phase B report and manifests: https://github.com/Vastargazing/Cr3dX/tree/main/docs/verification/v0.4.8-phase-b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S6 live evidence: https://github.com/Vastargazing/Cr3dX/blob/main/docs/STATUS.md</a:t>
            </a:r>
          </a:p>
          <a:p xmlns:a="http://schemas.openxmlformats.org/drawingml/2006/main">
            <a:r>
              <a:t>- https://github.com/Vastargazing/Cr3dX/blob/main/docs/S6_WORKER_TEST_MATRIX.md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https://github.com/Vastargazing/Cr3dX/blob/main/docs/PRECOMPILE_FINDINGS.md</a:t>
            </a:r>
          </a:p>
          <a:p xmlns:a="http://schemas.openxmlformats.org/drawingml/2006/main">
            <a:r>
              <a:t>- https://github.com/Vastargazing/Cr3dX/blob/main/docs/ATTESTCOIN_INTEGRATION.md</a:t>
            </a:r>
          </a:p>
          <a:p xmlns:a="http://schemas.openxmlformats.org/drawingml/2006/main">
            <a:r>
              <a:t>- Creditcoin Team response provenance is recorded in those documents; response was preliminary, not a final protocol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Roadmap decisions: repository docs/S6_WORKER_SPEC.md and docs/ATTESTCOIN_INTEGRATION.md</a:t>
            </a:r>
          </a:p>
          <a:p xmlns:a="http://schemas.openxmlformats.org/drawingml/2006/main">
            <a:r>
              <a:t>- Outbound capability status is time-bound and presented as an unlock condition, not a protocol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Measured S6 evidence: https://github.com/Vastargazing/Cr3dX/blob/main/docs/STATUS.md</a:t>
            </a:r>
          </a:p>
          <a:p xmlns:a="http://schemas.openxmlformats.org/drawingml/2006/main">
            <a:r>
              <a:t>- S6 operator procedure: https://github.com/Vastargazing/Cr3dX/blob/main/docs/S6_WORKER_RUNBOOK.md</a:t>
            </a:r>
          </a:p>
          <a:p xmlns:a="http://schemas.openxmlformats.org/drawingml/2006/main">
            <a:r>
              <a:t>- Repository history: https://github.com/Vastargazing/Cr3dX</a:t>
            </a:r>
          </a:p>
          <a:p xmlns:a="http://schemas.openxmlformats.org/drawingml/2006/main">
            <a:r>
              <a:t>- Initial commit efb34c7669dd0ba31dfce0d23ce4e52903bf0c0a, 2026-08-18T20:31:06+03:00.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d25de404c47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0ddd1c2c64dd7" /><Relationship Type="http://schemas.openxmlformats.org/officeDocument/2006/relationships/slideLayout" Target="/ppt/slideLayouts/slideLayout1.xml" Id="R75bc996be11940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bc996be11940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4c06733de45b3" /><Relationship Type="http://schemas.openxmlformats.org/officeDocument/2006/relationships/hyperlink" Target="https://github.com/Vastargazing/Cr3dX" TargetMode="External" Id="R7d6103ff62fc4a1a" /><Relationship Type="http://schemas.openxmlformats.org/officeDocument/2006/relationships/hyperlink" Target="https://vastargazing.github.io/Cr3dX/" TargetMode="External" Id="R984485e08bfc4772" /><Relationship Type="http://schemas.openxmlformats.org/officeDocument/2006/relationships/notesSlide" Target="/ppt/notesSlides/notesSlide1.xml" Id="Ra5a45e9c1dcc4b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b03703eb945ef" /><Relationship Type="http://schemas.openxmlformats.org/officeDocument/2006/relationships/notesSlide" Target="/ppt/notesSlides/notesSlide2.xml" Id="Ra47cb1e8399d4f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9aa080aef4840" /><Relationship Type="http://schemas.openxmlformats.org/officeDocument/2006/relationships/notesSlide" Target="/ppt/notesSlides/notesSlide3.xml" Id="R8ffb1d57b5a141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6a25e149e4e14" /><Relationship Type="http://schemas.openxmlformats.org/officeDocument/2006/relationships/hyperlink" Target="https://github.com/Vastargazing/Cr3dX/blob/main/docs/STATUS.md" TargetMode="External" Id="R3a1ec248056b4281" /><Relationship Type="http://schemas.openxmlformats.org/officeDocument/2006/relationships/hyperlink" Target="https://creditcoin-testnet.blockscout.com/tx/0xa626556e0798a67d77b484896d10e662763d041c2e9ead2d0c4ad112f2955657" TargetMode="External" Id="R5584de147d5b4f33" /><Relationship Type="http://schemas.openxmlformats.org/officeDocument/2006/relationships/hyperlink" Target="https://creditcoin-testnet.blockscout.com/tx/0xc740cf0ee69401817c32a310f6e2781ab63d125f7fc2bd299338cfe5fdc822ad" TargetMode="External" Id="R4938cc16b5194f14" /><Relationship Type="http://schemas.openxmlformats.org/officeDocument/2006/relationships/hyperlink" Target="https://creditcoin-testnet.blockscout.com/tx/0xa0c24a107398af5c99cc8cfaab0ea50f4542caff45c34bc8f539afbfa55b13b6" TargetMode="External" Id="R2d1990c8543a4686" /><Relationship Type="http://schemas.openxmlformats.org/officeDocument/2006/relationships/hyperlink" Target="https://creditcoin-testnet.blockscout.com/tx/0x8d859033ecaec13d7ebb188f8673673af0d13b989202997d613bee38f78840c2" TargetMode="External" Id="R760788afb931496a" /><Relationship Type="http://schemas.openxmlformats.org/officeDocument/2006/relationships/notesSlide" Target="/ppt/notesSlides/notesSlide4.xml" Id="R913de2ef695041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304c599dc4a09" /><Relationship Type="http://schemas.openxmlformats.org/officeDocument/2006/relationships/notesSlide" Target="/ppt/notesSlides/notesSlide5.xml" Id="Rd59588a1bfbf46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df2a969c84e34" /><Relationship Type="http://schemas.openxmlformats.org/officeDocument/2006/relationships/hyperlink" Target="https://github.com/Vastargazing/Cr3dX/tree/main/docs/verification/v0.4.8-phase-b" TargetMode="External" Id="R02af3b83e7be47ac" /><Relationship Type="http://schemas.openxmlformats.org/officeDocument/2006/relationships/notesSlide" Target="/ppt/notesSlides/notesSlide6.xml" Id="R5283ced900764d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03fc0d95941d3" /><Relationship Type="http://schemas.openxmlformats.org/officeDocument/2006/relationships/hyperlink" Target="https://github.com/Vastargazing/Cr3dX/blob/main/docs/S6_WORKER_TEST_MATRIX.md" TargetMode="External" Id="R22e751b03d6a4ed7" /><Relationship Type="http://schemas.openxmlformats.org/officeDocument/2006/relationships/notesSlide" Target="/ppt/notesSlides/notesSlide7.xml" Id="R283384e62e4141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e38f02d274693" /><Relationship Type="http://schemas.openxmlformats.org/officeDocument/2006/relationships/hyperlink" Target="https://github.com/Vastargazing/Cr3dX/blob/main/docs/PRECOMPILE_FINDINGS.md" TargetMode="External" Id="R9084b5be81404033" /><Relationship Type="http://schemas.openxmlformats.org/officeDocument/2006/relationships/hyperlink" Target="https://github.com/Vastargazing/Cr3dX/blob/main/docs/ATTESTCOIN_INTEGRATION.md" TargetMode="External" Id="R1a76f98ef31c48f4" /><Relationship Type="http://schemas.openxmlformats.org/officeDocument/2006/relationships/notesSlide" Target="/ppt/notesSlides/notesSlide8.xml" Id="R55de759f038d4a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d18fe69134ddd" /><Relationship Type="http://schemas.openxmlformats.org/officeDocument/2006/relationships/notesSlide" Target="/ppt/notesSlides/notesSlide9.xml" Id="R29ae4447cb1b41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a90f41bb24a0d" /><Relationship Type="http://schemas.openxmlformats.org/officeDocument/2006/relationships/hyperlink" Target="https://vastargazing.github.io/Cr3dX/" TargetMode="External" Id="R40e925ac65da40d0" /><Relationship Type="http://schemas.openxmlformats.org/officeDocument/2006/relationships/hyperlink" Target="https://github.com/Vastargazing/Cr3dX" TargetMode="External" Id="Rd20664c6ba8743bc" /><Relationship Type="http://schemas.openxmlformats.org/officeDocument/2006/relationships/hyperlink" Target="https://github.com/Vastargazing/Cr3dX/tree/main/docs/verification/v0.4.8-phase-b" TargetMode="External" Id="Ra1a0e46e3f2c46a6" /><Relationship Type="http://schemas.openxmlformats.org/officeDocument/2006/relationships/hyperlink" Target="https://github.com/Vastargazing/Cr3dX/blob/main/docs/S6_WORKER_RUNBOOK.md" TargetMode="External" Id="R5861ad9b3d5f43d8" /><Relationship Type="http://schemas.openxmlformats.org/officeDocument/2006/relationships/notesSlide" Target="/ppt/notesSlides/notesSlide10.xml" Id="R9e8551ac6f1145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0ACA2-56C3-4AF7-AC65-7615659B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ACA7B-E708-4EB7-AE60-0F6C2EC8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066800"/>
            <a:ext cx="906780" cy="90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FF6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992B3-A58B-4E9D-9B5D-C1099D4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2695" y="964787"/>
            <a:ext cx="906780" cy="90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FF6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E2D19-28CE-481F-8E1A-12174796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593" y="1547393"/>
            <a:ext cx="226695" cy="2266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D50F1-590B-49BF-848E-013DE530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FF61"/>
                </a:solidFill>
              </a:defRPr>
            </a:pPr>
            <a:r>
              <a:rPr sz="1200" b="1">
                <a:solidFill>
                  <a:srgbClr val="B8FF61"/>
                </a:solidFill>
              </a:rPr>
              <a:t>RWA · BUIDL CTC 2026 FALL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02363-1627-4014-AA2C-9111C169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91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66F4D4"/>
                </a:solidFill>
              </a:defRPr>
            </a:pPr>
            <a:r>
              <a:rPr sz="7050" b="1">
                <a:solidFill>
                  <a:srgbClr val="66F4D4"/>
                </a:solidFill>
              </a:rPr>
              <a:t>CR3DX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8DA60-9C2A-4C08-871B-E2DA0BC4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DF5EF"/>
                </a:solidFill>
              </a:defRPr>
            </a:pPr>
            <a:r>
              <a:rPr sz="3225" b="1">
                <a:solidFill>
                  <a:srgbClr val="EDF5EF"/>
                </a:solidFill>
              </a:rPr>
              <a:t>Credit history that follows</a:t>
            </a:r>
          </a:p>
          <a:p xmlns:a="http://schemas.openxmlformats.org/drawingml/2006/main">
            <a:pPr algn="l">
              <a:defRPr sz="3225" b="1">
                <a:solidFill>
                  <a:srgbClr val="EDF5EF"/>
                </a:solidFill>
              </a:defRPr>
            </a:pPr>
            <a:r>
              <a:rPr sz="3225" b="1">
                <a:solidFill>
                  <a:srgbClr val="EDF5EF"/>
                </a:solidFill>
              </a:rPr>
              <a:t>the borrower across chains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22AE1-E252-4D11-B61C-EB77808F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7AF"/>
                </a:solidFill>
              </a:defRPr>
            </a:pPr>
            <a:r>
              <a:rPr sz="1650" b="0">
                <a:solidFill>
                  <a:srgbClr val="AAB7AF"/>
                </a:solidFill>
              </a:rPr>
              <a:t>Money moves on Ethereum. Credit state lives on Creditcoin.</a:t>
            </a:r>
          </a:p>
          <a:p xmlns:a="http://schemas.openxmlformats.org/drawingml/2006/main">
            <a:pPr algn="l">
              <a:defRPr sz="1650" b="0">
                <a:solidFill>
                  <a:srgbClr val="AAB7AF"/>
                </a:solidFill>
              </a:defRPr>
            </a:pPr>
            <a:r>
              <a:rPr sz="1650" b="0">
                <a:solidFill>
                  <a:srgbClr val="AAB7AF"/>
                </a:solidFill>
              </a:rPr>
              <a:t>Attestcoin is the only connection, and anyone can submit the proof.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009CB-A952-4C58-88E3-682E76B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83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D9D73-4831-49AE-BC9C-7F19597C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7948C"/>
                </a:solidFill>
              </a:defRPr>
            </a:pPr>
            <a:r>
              <a:rPr sz="975" b="1">
                <a:solidFill>
                  <a:srgbClr val="87948C"/>
                </a:solidFill>
              </a:rPr>
              <a:t>SOLO BUILDER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E85B4-9FA3-4B13-AB80-35D8DF5E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5EF"/>
                </a:solidFill>
              </a:defRPr>
            </a:pPr>
            <a:r>
              <a:rPr sz="1500" b="1">
                <a:solidFill>
                  <a:srgbClr val="EDF5EF"/>
                </a:solidFill>
              </a:rPr>
              <a:t>Valery Borovsky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52996-605E-450C-BBD8-05A67D30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2450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EDF5EF"/>
                </a:solidFill>
              </a:defRPr>
            </a:pPr>
            <a:r>
              <a:rPr sz="1350" b="1">
                <a:solidFill>
                  <a:srgbClr val="EDF5EF"/>
                </a:solidFill>
                <a:hlinkClick xmlns:r="http://schemas.openxmlformats.org/officeDocument/2006/relationships" r:id="R7d6103ff62fc4a1a"/>
              </a:rPr>
              <a:t>Repository ↗</a:t>
            </a:r>
            <a:r>
              <a:rPr sz="1350">
                <a:solidFill>
                  <a:srgbClr val="EDF5EF"/>
                </a:solidFill>
              </a:rPr>
              <a:t>    </a:t>
            </a:r>
            <a:r>
              <a:rPr sz="1350" b="1">
                <a:solidFill>
                  <a:srgbClr val="EDF5EF"/>
                </a:solidFill>
                <a:hlinkClick xmlns:r="http://schemas.openxmlformats.org/officeDocument/2006/relationships" r:id="R984485e08bfc4772"/>
              </a:rPr>
              <a:t>Live dashboard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F985E-F665-4A40-9CAA-F2C8E7E0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3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7948C"/>
                </a:solidFill>
              </a:defRPr>
            </a:pPr>
            <a:r>
              <a:rPr sz="1050" b="0">
                <a:solidFill>
                  <a:srgbClr val="87948C"/>
                </a:solidFill>
              </a:rPr>
              <a:t>Created during the hackathon · repository history begins 18 Aug 2026</a:t>
            </a:r>
          </a:p>
        </p:txBody>
      </p:sp>
    </p:spTree>
    <p:extLst>
      <p:ext uri="{BB962C8B-B14F-4D97-AF65-F5344CB8AC3E}">
        <p14:creationId xmlns:p14="http://schemas.microsoft.com/office/powerpoint/2010/main" val="1183131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4BA3A-4DA5-4F46-83FE-0DE8F890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AD7A6-A2F5-440D-9DFB-2806B187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C2786-3F22-49AC-8FC7-5056B7F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C2938-0CA7-4FD4-BD6A-139CEA7A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92B59-D364-4529-9306-0BDA0EC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Repayment history stops at the chain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8966C-5C6F-4D8F-A03D-05881866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DF5EF"/>
                </a:solidFill>
              </a:defRPr>
            </a:pPr>
            <a:r>
              <a:rPr sz="2400" b="1">
                <a:solidFill>
                  <a:srgbClr val="EDF5EF"/>
                </a:solidFill>
              </a:rPr>
              <a:t>A borrower can repay reliably on one chain and still arrive on the next with no portable record.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FE081-072D-4865-B2EE-6AFA760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90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7AF"/>
                </a:solidFill>
              </a:defRPr>
            </a:pPr>
            <a:r>
              <a:rPr sz="2025" b="0">
                <a:solidFill>
                  <a:srgbClr val="AAB7AF"/>
                </a:solidFill>
              </a:rPr>
              <a:t>The history exists.</a:t>
            </a:r>
          </a:p>
          <a:p xmlns:a="http://schemas.openxmlformats.org/drawingml/2006/main">
            <a:pPr algn="l">
              <a:defRPr sz="2025" b="0">
                <a:solidFill>
                  <a:srgbClr val="AAB7AF"/>
                </a:solidFill>
              </a:defRPr>
            </a:pPr>
            <a:r>
              <a:rPr sz="2025" b="0">
                <a:solidFill>
                  <a:srgbClr val="AAB7AF"/>
                </a:solidFill>
              </a:rPr>
              <a:t>It just cannot be proven where the next lender needs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E5A88-2D3F-44B3-BF9C-FBCAA381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95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BD462-99B5-49F9-97DC-AA8E8F4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SOURCE 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B9957-9B9E-4736-9E10-15672378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B8FF61"/>
                </a:solidFill>
              </a:defRPr>
            </a:pPr>
            <a:r>
              <a:rPr sz="4275" b="1">
                <a:solidFill>
                  <a:srgbClr val="B8FF61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27A79-C583-4F2B-9215-F22A172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DF5EF"/>
                </a:solidFill>
              </a:defRPr>
            </a:pPr>
            <a:r>
              <a:rPr sz="1650" b="0">
                <a:solidFill>
                  <a:srgbClr val="EDF5EF"/>
                </a:solidFill>
              </a:rPr>
              <a:t>of on-time repayments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B0DC4-60D1-4F85-B35A-37A24DB8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NEXT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9F2BE-0A99-408E-B3A0-4AB05A05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81450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9362"/>
                </a:solidFill>
              </a:defRPr>
            </a:pPr>
            <a:r>
              <a:rPr sz="5550" b="1">
                <a:solidFill>
                  <a:srgbClr val="FF9362"/>
                </a:solidFill>
              </a:rPr>
              <a:t>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415D4-C479-406E-94CB-7BE53218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DF5EF"/>
                </a:solidFill>
              </a:defRPr>
            </a:pPr>
            <a:r>
              <a:rPr sz="1650" b="0">
                <a:solidFill>
                  <a:srgbClr val="EDF5EF"/>
                </a:solidFill>
              </a:rPr>
              <a:t>no verifiable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B4D34-EA28-4D4B-954D-63F80104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7AF"/>
                </a:solidFill>
              </a:defRPr>
            </a:pPr>
            <a:r>
              <a:rPr sz="1500" b="0">
                <a:solidFill>
                  <a:srgbClr val="AAB7AF"/>
                </a:solidFill>
              </a:rPr>
              <a:t>This matters in cross-border invoice financing, where payer, borrower and lender often use different rails.</a:t>
            </a:r>
          </a:p>
        </p:txBody>
      </p:sp>
    </p:spTree>
    <p:extLst>
      <p:ext uri="{BB962C8B-B14F-4D97-AF65-F5344CB8AC3E}">
        <p14:creationId xmlns:p14="http://schemas.microsoft.com/office/powerpoint/2010/main" val="707541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051FE-E420-42A8-B5BC-1EE1AE6B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9B725-006B-4B2E-8298-08EFDD68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ABDFE-0DF5-4B82-9DE0-E3A7F13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75B44-016C-45E6-A329-AB8E1CAD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D6E78-F4B1-4B8F-A5BD-1C8F7018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70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Settlement stays with the money. Credit state stays with the history.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B3CD7-2951-4116-A2DE-F01E6EF8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3A49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4CA7A-DFD1-44CB-89E5-4436015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9F858-446F-4A8F-BE54-DAEF7AD3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362"/>
                </a:solidFill>
              </a:defRPr>
            </a:pPr>
            <a:r>
              <a:rPr sz="1050" b="1">
                <a:solidFill>
                  <a:srgbClr val="FF9362"/>
                </a:solidFill>
              </a:rPr>
              <a:t>ETHEREUM SEPOLIA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56523-4956-4EF8-9FEA-80426CB5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495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DF5EF"/>
                </a:solidFill>
              </a:defRPr>
            </a:pPr>
            <a:r>
              <a:rPr sz="1575" b="0">
                <a:solidFill>
                  <a:srgbClr val="EDF5EF"/>
                </a:solidFill>
              </a:rPr>
              <a:t>Funding and repayment move directly between parties through a fixed Gateway. No bridge. No wrapped asset. No custody.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2A658-5A21-4755-B162-A4DB078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295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3A49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D368A-A455-48BF-A9F7-32CF2C49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EE8D7-D9DD-4900-AE9C-01FB4394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2410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F4D4"/>
                </a:solidFill>
              </a:defRPr>
            </a:pPr>
            <a:r>
              <a:rPr sz="1050" b="1">
                <a:solidFill>
                  <a:srgbClr val="66F4D4"/>
                </a:solidFill>
              </a:rPr>
              <a:t>ATTESTCOIN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69A81-7E15-4136-A1E1-0CDEE416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19400"/>
            <a:ext cx="2495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DF5EF"/>
                </a:solidFill>
              </a:defRPr>
            </a:pPr>
            <a:r>
              <a:rPr sz="1575" b="0">
                <a:solidFill>
                  <a:srgbClr val="EDF5EF"/>
                </a:solidFill>
              </a:rPr>
              <a:t>Proves source inclusion, successful execution and the authentic configured Gateway event.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66C44-5241-4948-8C41-9DE8AA10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524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3A49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356EF-CDA6-4924-8AD1-C0927BD7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57A0C-6741-4AA3-A0FA-FF8278D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CREDITCOIN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64DF5-402C-49FF-9F60-E11E72E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3067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DF5EF"/>
                </a:solidFill>
              </a:defRPr>
            </a:pPr>
            <a:r>
              <a:rPr sz="1575" b="0">
                <a:solidFill>
                  <a:srgbClr val="EDF5EF"/>
                </a:solidFill>
              </a:rPr>
              <a:t>Stores the canonical credit result: deal status, score, limit, exposure and reserve.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1EEA6-3EF9-4FBC-B717-4C859372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87948C"/>
                </a:solidFill>
              </a:defRPr>
            </a:pPr>
            <a:r>
              <a:rPr sz="2850" b="1">
                <a:solidFill>
                  <a:srgbClr val="87948C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E03C2-3FA6-4E01-9E27-E96EB79D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87948C"/>
                </a:solidFill>
              </a:defRPr>
            </a:pPr>
            <a:r>
              <a:rPr sz="2850" b="1">
                <a:solidFill>
                  <a:srgbClr val="87948C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4EE62-AFD7-465F-8BEF-BB56F4D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1010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5EF"/>
                </a:solidFill>
              </a:defRPr>
            </a:pPr>
            <a:r>
              <a:rPr sz="1725" b="1">
                <a:solidFill>
                  <a:srgbClr val="EDF5EF"/>
                </a:solidFill>
              </a:rPr>
              <a:t>Without Attestcoin, Cr3dX cannot verify source funding or repayment facts or evaluate source-chain deadlines.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39B58-0E32-4317-A44A-058A2293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AF"/>
                </a:solidFill>
              </a:defRPr>
            </a:pPr>
            <a:r>
              <a:rPr sz="1275" b="0">
                <a:solidFill>
                  <a:srgbClr val="AAB7AF"/>
                </a:solidFill>
              </a:rPr>
              <a:t>The proof is the boundary. The credit state is the result.</a:t>
            </a:r>
          </a:p>
        </p:txBody>
      </p:sp>
    </p:spTree>
    <p:extLst>
      <p:ext uri="{BB962C8B-B14F-4D97-AF65-F5344CB8AC3E}">
        <p14:creationId xmlns:p14="http://schemas.microsoft.com/office/powerpoint/2010/main" val="1443411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9ED029-0525-4C5F-B617-757BDCB8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B9B43-551A-42F3-9BFB-98C578A3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LIVE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EA5AB-30CB-4D5D-8B34-244E58A6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8CB28-C382-4D96-B9B6-C3D7FB5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58239-4392-4353-8EDB-0E273A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07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A repayment arrived first; the system still closed correctly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26884-0272-4428-A0C8-D756DE29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51911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3A49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40841-FB2A-470D-A957-3AF0527D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CANONICAL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DADA5-DDEA-4481-9D93-70FADF6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B8FF61"/>
                </a:solidFill>
              </a:defRPr>
            </a:pPr>
            <a:r>
              <a:rPr sz="3825" b="1">
                <a:solidFill>
                  <a:srgbClr val="B8FF61"/>
                </a:solidFill>
              </a:rPr>
              <a:t>PAID_ON_TIME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78C66-546E-488C-A15A-7534BFA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DF5EF"/>
                </a:solidFill>
              </a:defRPr>
            </a:pPr>
            <a:r>
              <a:rPr sz="1500" b="0">
                <a:solidFill>
                  <a:srgbClr val="EDF5EF"/>
                </a:solidFill>
              </a:rPr>
              <a:t>Repayment proof  →  VERIFIED_PENDING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E71F5-14C0-4E90-A0A0-051DD92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DF5EF"/>
                </a:solidFill>
              </a:defRPr>
            </a:pPr>
            <a:r>
              <a:rPr sz="1500" b="0">
                <a:solidFill>
                  <a:srgbClr val="EDF5EF"/>
                </a:solidFill>
              </a:rPr>
              <a:t>Funding proof  →  APPLIED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D4937-ABCA-476D-96EF-197600EB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DF5EF"/>
                </a:solidFill>
              </a:defRPr>
            </a:pPr>
            <a:r>
              <a:rPr sz="1500" b="0">
                <a:solidFill>
                  <a:srgbClr val="EDF5EF"/>
                </a:solidFill>
              </a:rPr>
              <a:t>Targeted applyEvidence call  →  APPLIED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0596B-06B5-46B7-A19C-BD1B584F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C4324-7CC0-4F95-A5EA-B87DB6D3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240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DF5EF"/>
                </a:solidFill>
              </a:defRPr>
            </a:pPr>
            <a:r>
              <a:rPr sz="2925" b="1">
                <a:solidFill>
                  <a:srgbClr val="EDF5EF"/>
                </a:solidFill>
              </a:rPr>
              <a:t>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7911A-374D-4766-8752-26187E6B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24050"/>
            <a:ext cx="28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3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66F4D4"/>
                </a:solidFill>
              </a:defRPr>
            </a:pPr>
            <a:r>
              <a:rPr sz="2925" b="1">
                <a:solidFill>
                  <a:srgbClr val="66F4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32870-B8BD-434E-AE42-5F1A82B8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B8FF61"/>
                </a:solidFill>
              </a:defRPr>
            </a:pPr>
            <a:r>
              <a:rPr sz="2925" b="1">
                <a:solidFill>
                  <a:srgbClr val="B8FF61"/>
                </a:solidFill>
              </a:rPr>
              <a:t>525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306B4-DFE0-437A-BD8F-FBCA976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86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credit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2F140-235D-4E11-8C26-0182DF33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924050"/>
            <a:ext cx="90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35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DF5EF"/>
                </a:solidFill>
              </a:defRPr>
            </a:pPr>
            <a:r>
              <a:rPr sz="2925" b="1">
                <a:solidFill>
                  <a:srgbClr val="EDF5EF"/>
                </a:solidFill>
              </a:rPr>
              <a:t>5,000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AA49C-524C-4187-9C38-D46B2CC9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24050"/>
            <a:ext cx="28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63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66F4D4"/>
                </a:solidFill>
              </a:defRPr>
            </a:pPr>
            <a:r>
              <a:rPr sz="2925" b="1">
                <a:solidFill>
                  <a:srgbClr val="66F4D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AB7F8-8399-441E-80F0-109C0C29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24050"/>
            <a:ext cx="904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35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B8FF61"/>
                </a:solidFill>
              </a:defRPr>
            </a:pPr>
            <a:r>
              <a:rPr sz="2925" b="1">
                <a:solidFill>
                  <a:srgbClr val="B8FF61"/>
                </a:solidFill>
              </a:rPr>
              <a:t>5,250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9E273-FE1A-4A97-BB0D-CC0F11FB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860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credit limit · USDC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72A1A-2DDE-43CD-BD38-231D11F8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1.000001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927E1-B51F-4A67-9473-E66F441C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861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funded · USDC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ECEDF-046E-47A5-931A-1DCE7EA2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1.1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B179B-7EF8-47F8-9A74-20A3DC0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8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repaid on time · USDC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D45DF-CAD2-4DC3-85AB-11481E92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245FDA-8F50-4AD1-979A-F50A6576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38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exposure / outstanding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320EF-DABF-4E7E-8D35-DFE862DA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101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AF"/>
                </a:solidFill>
              </a:defRPr>
            </a:pPr>
            <a:r>
              <a:rPr sz="1275" b="0">
                <a:solidFill>
                  <a:srgbClr val="AAB7AF"/>
                </a:solidFill>
              </a:rPr>
              <a:t>Small testnet amounts by design; the limit demonstrates model behavior, not deal size.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B50BF3-1252-43B9-A381-A9927525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101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DF5EF"/>
                </a:solidFill>
              </a:defRPr>
            </a:pPr>
            <a:r>
              <a:rPr sz="1275">
                <a:solidFill>
                  <a:srgbClr val="EDF5EF"/>
                </a:solidFill>
              </a:rPr>
              <a:t>Accepted snapshot: </a:t>
            </a:r>
            <a:r>
              <a:rPr sz="1275" b="1">
                <a:solidFill>
                  <a:srgbClr val="EDF5EF"/>
                </a:solidFill>
                <a:hlinkClick xmlns:r="http://schemas.openxmlformats.org/officeDocument/2006/relationships" r:id="R3a1ec248056b4281"/>
              </a:rPr>
              <a:t>f359c54</a:t>
            </a:r>
            <a:r>
              <a:rPr sz="1275">
                <a:solidFill>
                  <a:srgbClr val="EDF5EF"/>
                </a:solidFill>
              </a:rPr>
              <a:t> · dashboard separately re-reads current state from public RPC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B641A-2C98-469B-B75F-84BC32D9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7948C"/>
                </a:solidFill>
              </a:defRPr>
            </a:pPr>
            <a:r>
              <a:rPr sz="825" b="1">
                <a:solidFill>
                  <a:srgbClr val="87948C"/>
                </a:solidFill>
              </a:rPr>
              <a:t>REPAYMENT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C4BD04-0319-4846-948A-B4518BF6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F4D4"/>
                </a:solidFill>
              </a:defRPr>
            </a:pPr>
            <a:r>
              <a:rPr sz="975" b="1">
                <a:solidFill>
                  <a:srgbClr val="66F4D4"/>
                </a:solidFill>
                <a:hlinkClick xmlns:r="http://schemas.openxmlformats.org/officeDocument/2006/relationships" r:id="R5584de147d5b4f33"/>
              </a:rPr>
              <a:t>a626556e…55657 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42C1B0-4FA0-41EC-9F1C-7A8B207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6742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7948C"/>
                </a:solidFill>
              </a:defRPr>
            </a:pPr>
            <a:r>
              <a:rPr sz="825" b="1">
                <a:solidFill>
                  <a:srgbClr val="87948C"/>
                </a:solidFill>
              </a:rPr>
              <a:t>FUNDING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5FFD6-94E6-467E-99C4-BD42BA6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484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F4D4"/>
                </a:solidFill>
              </a:defRPr>
            </a:pPr>
            <a:r>
              <a:rPr sz="975" b="1">
                <a:solidFill>
                  <a:srgbClr val="66F4D4"/>
                </a:solidFill>
                <a:hlinkClick xmlns:r="http://schemas.openxmlformats.org/officeDocument/2006/relationships" r:id="R4938cc16b5194f14"/>
              </a:rPr>
              <a:t>c740cf0e…822ad 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AC96A0-2BBD-45D1-9CC2-930F2B5B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06742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7948C"/>
                </a:solidFill>
              </a:defRPr>
            </a:pPr>
            <a:r>
              <a:rPr sz="825" b="1">
                <a:solidFill>
                  <a:srgbClr val="87948C"/>
                </a:solidFill>
              </a:rPr>
              <a:t>REPAYMENT APPLY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931B0-C339-4E1F-BBB1-A118ED8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2484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F4D4"/>
                </a:solidFill>
              </a:defRPr>
            </a:pPr>
            <a:r>
              <a:rPr sz="975" b="1">
                <a:solidFill>
                  <a:srgbClr val="66F4D4"/>
                </a:solidFill>
                <a:hlinkClick xmlns:r="http://schemas.openxmlformats.org/officeDocument/2006/relationships" r:id="R2d1990c8543a4686"/>
              </a:rPr>
              <a:t>a0c24a10…b13b6 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5FE7E6-0A01-4EFB-A53E-408B10A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6742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7948C"/>
                </a:solidFill>
              </a:defRPr>
            </a:pPr>
            <a:r>
              <a:rPr sz="825" b="1">
                <a:solidFill>
                  <a:srgbClr val="87948C"/>
                </a:solidFill>
              </a:rPr>
              <a:t>EXTERNAL RACE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E70156-BC1D-4318-905E-BF1A3E7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484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66F4D4"/>
                </a:solidFill>
              </a:defRPr>
            </a:pPr>
            <a:r>
              <a:rPr sz="975" b="1">
                <a:solidFill>
                  <a:srgbClr val="66F4D4"/>
                </a:solidFill>
                <a:hlinkClick xmlns:r="http://schemas.openxmlformats.org/officeDocument/2006/relationships" r:id="R760788afb931496a"/>
              </a:rPr>
              <a:t>8d859033…840c2 ↗</a:t>
            </a:r>
          </a:p>
        </p:txBody>
      </p:sp>
    </p:spTree>
    <p:extLst>
      <p:ext uri="{BB962C8B-B14F-4D97-AF65-F5344CB8AC3E}">
        <p14:creationId xmlns:p14="http://schemas.microsoft.com/office/powerpoint/2010/main" val="1664382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60D88-FC24-4016-83E6-A58FCA6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A7BDF-C001-47F9-95DA-1DEAB54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TRUST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95BC7-8BF7-494B-B617-0386362C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34E7E-A155-4C42-B845-7DDA847D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CC27D-FCBE-4CBA-AADC-86C1624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58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We say exactly what the proof establishes, and what it does not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50B78-5282-4C72-8E5F-BDDC38F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536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PROVEN CRYPTOGRAPHICALLY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FEE2F-539E-4CE4-814C-7B6AE45D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5362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41169-D55E-41A5-8F4E-B383C36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F61"/>
                </a:solidFill>
              </a:defRPr>
            </a:pPr>
            <a:r>
              <a:rPr sz="1500" b="1">
                <a:solidFill>
                  <a:srgbClr val="B8FF61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43ACB-8E85-4315-B187-6F010D21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Funding transaction inclusion, successful receipt and authentic Gateway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52D08-0155-4737-9267-BB5B1E6C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F61"/>
                </a:solidFill>
              </a:defRPr>
            </a:pPr>
            <a:r>
              <a:rPr sz="1500" b="1">
                <a:solidFill>
                  <a:srgbClr val="B8FF61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3E833-09F7-455B-B9C5-AE305E28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Repayment transaction inclusion, successful receipt and authentic Gateway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74F68-10FD-4678-9B46-7D8194A7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F61"/>
                </a:solidFill>
              </a:defRPr>
            </a:pPr>
            <a:r>
              <a:rPr sz="1500" b="1">
                <a:solidFill>
                  <a:srgbClr val="B8FF61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149EE-D57F-4F13-9D18-85F576DF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Deadline evaluation against attested source-chain height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F2B03-78A4-4DA4-A67D-C53AF410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F61"/>
                </a:solidFill>
              </a:defRPr>
            </a:pPr>
            <a:r>
              <a:rPr sz="1500" b="1">
                <a:solidFill>
                  <a:srgbClr val="B8FF61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CE1C8-153F-4E43-86BF-AE9376D1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Credit outcome derived from those facts and contract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F956D-B7A6-41DE-A626-718BCF20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62125"/>
            <a:ext cx="5362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362"/>
                </a:solidFill>
              </a:defRPr>
            </a:pPr>
            <a:r>
              <a:rPr sz="1050" b="1">
                <a:solidFill>
                  <a:srgbClr val="FF9362"/>
                </a:solidFill>
              </a:rPr>
              <a:t>NOT PROVEN, AND NOT CLAIMED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BE0A42-D47F-4AF4-B3E3-E7080F83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85975"/>
            <a:ext cx="5362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70BEB-CB99-47E7-9B81-08BB8E66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362"/>
                </a:solidFill>
              </a:defRPr>
            </a:pPr>
            <a:r>
              <a:rPr sz="1500" b="1">
                <a:solidFill>
                  <a:srgbClr val="FF9362"/>
                </a:solidFill>
              </a:rPr>
              <a:t>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85532-57CD-415A-A3D3-DB7A5E36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14575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That a real invoice exists or the claim is legally enforceable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AB13B9-712F-4837-8CB8-AE628EAA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9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362"/>
                </a:solidFill>
              </a:defRPr>
            </a:pPr>
            <a:r>
              <a:rPr sz="1500" b="1">
                <a:solidFill>
                  <a:srgbClr val="FF9362"/>
                </a:solidFill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9E964-5AFB-46A2-9413-F39F51A5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90850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The borrower's real-world identity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6698F-BED0-4252-B121-96EC5719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86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362"/>
                </a:solidFill>
              </a:defRPr>
            </a:pPr>
            <a:r>
              <a:rPr sz="1500" b="1">
                <a:solidFill>
                  <a:srgbClr val="FF9362"/>
                </a:solidFill>
              </a:rPr>
              <a:t>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4B3EF-49E3-41FA-B8E0-15FE45A9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67125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Sybil resistance: the score is address-level repayment reputation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353D4B-2EF1-43FD-B1E3-DF6A63F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62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9362"/>
                </a:solidFill>
              </a:defRPr>
            </a:pPr>
            <a:r>
              <a:rPr sz="1500" b="1">
                <a:solidFill>
                  <a:srgbClr val="FF9362"/>
                </a:solidFill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20FD8-69B8-4DE5-BBE4-1B874E1F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43400"/>
            <a:ext cx="4981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Collateral, escrow or collection enforcement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C20A6-C231-4440-BC55-BC1903DC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1010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3A49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58599-F467-4327-8343-BFAD1B95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F4D4"/>
                </a:solidFill>
              </a:defRPr>
            </a:pPr>
            <a:r>
              <a:rPr sz="1050" b="1">
                <a:solidFill>
                  <a:srgbClr val="66F4D4"/>
                </a:solidFill>
              </a:rPr>
              <a:t>TOKENS MOVED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E36BB-A470-4E85-8472-66AEF2B9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53050"/>
            <a:ext cx="8810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This follows from the Gateway contract itself: it emits only after a successful transfer. The contract is small, public and has no privileged functions.</a:t>
            </a:r>
          </a:p>
        </p:txBody>
      </p:sp>
    </p:spTree>
    <p:extLst>
      <p:ext uri="{BB962C8B-B14F-4D97-AF65-F5344CB8AC3E}">
        <p14:creationId xmlns:p14="http://schemas.microsoft.com/office/powerpoint/2010/main" val="269516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67FB9-DF50-461B-ACF7-5B1049D0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D46EF-A74D-4DC7-B989-4830989C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INDEPENDENT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9B3CE-1087-4BA4-A8AB-686C4B4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DD270-F9EC-4950-BBC6-EA3715F1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0B9C4-3EA6-4CE8-8D7C-67EE8A08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41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The model and the implementation met only after expectations were sealed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3591C-8B30-4A9D-B69D-FCEFB885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B8FF61"/>
                </a:solidFill>
              </a:defRPr>
            </a:pPr>
            <a:r>
              <a:rPr sz="7650" b="1">
                <a:solidFill>
                  <a:srgbClr val="B8FF61"/>
                </a:solidFill>
              </a:rPr>
              <a:t>63/63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926C6-7C34-44BC-B43C-B26A4C8A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EF"/>
                </a:solidFill>
              </a:defRPr>
            </a:pPr>
            <a:r>
              <a:rPr sz="1800" b="1">
                <a:solidFill>
                  <a:srgbClr val="EDF5EF"/>
                </a:solidFill>
              </a:rPr>
              <a:t>traces matched</a:t>
            </a:r>
          </a:p>
          <a:p xmlns:a="http://schemas.openxmlformats.org/drawingml/2006/main">
            <a:pPr algn="l">
              <a:defRPr sz="1800" b="1">
                <a:solidFill>
                  <a:srgbClr val="EDF5EF"/>
                </a:solidFill>
              </a:defRPr>
            </a:pPr>
            <a:r>
              <a:rPr sz="1800" b="1">
                <a:solidFill>
                  <a:srgbClr val="EDF5EF"/>
                </a:solidFill>
              </a:rPr>
              <a:t>zero semantic divergences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5CA2C-46A3-4010-AD60-DCE512B3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952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C1B71-DE7C-4E07-8D45-DE061472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F4D4"/>
                </a:solidFill>
              </a:defRPr>
            </a:pPr>
            <a:r>
              <a:rPr sz="1125" b="1">
                <a:solidFill>
                  <a:srgbClr val="66F4D4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D6803-DE1D-4DA6-B4B4-066D77B7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EF"/>
                </a:solidFill>
              </a:defRPr>
            </a:pPr>
            <a:r>
              <a:rPr sz="1650" b="1">
                <a:solidFill>
                  <a:srgbClr val="EDF5EF"/>
                </a:solidFill>
              </a:rPr>
              <a:t>Specification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97392-A3C7-4EEA-93CF-D50DC504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AF"/>
                </a:solidFill>
              </a:defRPr>
            </a:pPr>
            <a:r>
              <a:rPr sz="1275" b="0">
                <a:solidFill>
                  <a:srgbClr val="AAB7AF"/>
                </a:solidFill>
              </a:rPr>
              <a:t>Blind agent never read Deals or Credit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2A751-6331-4622-9EE3-1963981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D19EA-1D15-4DFE-ABBE-BA26D347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F4D4"/>
                </a:solidFill>
              </a:defRPr>
            </a:pPr>
            <a:r>
              <a:rPr sz="1125" b="1">
                <a:solidFill>
                  <a:srgbClr val="66F4D4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8BBA7-308F-48F2-BBC8-FDEDC263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669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EF"/>
                </a:solidFill>
              </a:defRPr>
            </a:pPr>
            <a:r>
              <a:rPr sz="1650" b="1">
                <a:solidFill>
                  <a:srgbClr val="EDF5EF"/>
                </a:solidFill>
              </a:rPr>
              <a:t>Expectations exported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4F5BE-76FF-4838-A34B-5E5378DD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AF"/>
                </a:solidFill>
              </a:defRPr>
            </a:pPr>
            <a:r>
              <a:rPr sz="1275" b="0">
                <a:solidFill>
                  <a:srgbClr val="AAB7AF"/>
                </a:solidFill>
              </a:rPr>
              <a:t>Trace corpus hashed before code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80D0D5-06EA-4FE8-9345-3C6AD981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38475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E29BF-4E5B-4507-B309-B98148E4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95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F4D4"/>
                </a:solidFill>
              </a:defRPr>
            </a:pPr>
            <a:r>
              <a:rPr sz="1125" b="1">
                <a:solidFill>
                  <a:srgbClr val="66F4D4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C35A5-D2C5-445A-BE09-16FDA571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67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EF"/>
                </a:solidFill>
              </a:defRPr>
            </a:pPr>
            <a:r>
              <a:rPr sz="1650" b="1">
                <a:solidFill>
                  <a:srgbClr val="EDF5EF"/>
                </a:solidFill>
              </a:rPr>
              <a:t>Implementation opened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621B8-DBCB-4FD2-91A5-15E562E6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AF"/>
                </a:solidFill>
              </a:defRPr>
            </a:pPr>
            <a:r>
              <a:rPr sz="1275" b="0">
                <a:solidFill>
                  <a:srgbClr val="AAB7AF"/>
                </a:solidFill>
              </a:rPr>
              <a:t>Foundry replayed the sealed oracle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9CE48-B1F6-493F-A9F9-AF8496B8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38575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16075-59E7-4882-B223-4720441C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F4D4"/>
                </a:solidFill>
              </a:defRPr>
            </a:pPr>
            <a:r>
              <a:rPr sz="1125" b="1">
                <a:solidFill>
                  <a:srgbClr val="66F4D4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A7566-BFDE-417B-BC12-E032EB71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67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EF"/>
                </a:solidFill>
              </a:defRPr>
            </a:pPr>
            <a:r>
              <a:rPr sz="1650" b="1">
                <a:solidFill>
                  <a:srgbClr val="EDF5EF"/>
                </a:solidFill>
              </a:rPr>
              <a:t>Convergence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C1FAE-AA5F-4DDD-9714-AE65C6A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7AF"/>
                </a:solidFill>
              </a:defRPr>
            </a:pPr>
            <a:r>
              <a:rPr sz="1275" b="0">
                <a:solidFill>
                  <a:srgbClr val="AAB7AF"/>
                </a:solidFill>
              </a:rPr>
              <a:t>All 63 traces matched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78BB4-1070-4E43-93A6-11948ADE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5191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2631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E4524-C738-4E67-AD84-0571CB6E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4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FF61"/>
                </a:solidFill>
              </a:defRPr>
            </a:pPr>
            <a:r>
              <a:rPr sz="1650" b="1">
                <a:solidFill>
                  <a:srgbClr val="B8FF61"/>
                </a:solidFill>
              </a:rPr>
              <a:t>16 independently derived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5D185-6993-45C3-8162-86E0CE18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48C"/>
                </a:solidFill>
              </a:defRPr>
            </a:pPr>
            <a:r>
              <a:rPr sz="1125" b="0">
                <a:solidFill>
                  <a:srgbClr val="87948C"/>
                </a:solidFill>
              </a:rPr>
              <a:t>strongest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2AB93-5EB9-4B58-B3F3-5577032F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56007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2631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4D5F4-57A9-40F9-AB8F-D0CD2077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340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F4D4"/>
                </a:solidFill>
              </a:defRPr>
            </a:pPr>
            <a:r>
              <a:rPr sz="1650" b="1">
                <a:solidFill>
                  <a:srgbClr val="66F4D4"/>
                </a:solidFill>
              </a:rPr>
              <a:t>47 specification-prescribed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14D97B-CD3B-4351-B4DB-E911EF7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292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7948C"/>
                </a:solidFill>
              </a:defRPr>
            </a:pPr>
            <a:r>
              <a:rPr sz="1125" b="0">
                <a:solidFill>
                  <a:srgbClr val="87948C"/>
                </a:solidFill>
              </a:rPr>
              <a:t>full coverage, but less independent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73D727-68B5-4030-BDF4-0A125054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B8FF61"/>
                </a:solidFill>
              </a:defRPr>
            </a:pPr>
            <a:r>
              <a:rPr sz="1200" b="1">
                <a:solidFill>
                  <a:srgbClr val="B8FF61"/>
                </a:solidFill>
                <a:hlinkClick xmlns:r="http://schemas.openxmlformats.org/officeDocument/2006/relationships" r:id="R02af3b83e7be47ac"/>
              </a:rPr>
              <a:t>Open report and manifests 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AB19DD-56B2-4CA4-84D5-92552C24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31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AB7AF"/>
                </a:solidFill>
              </a:defRPr>
            </a:pPr>
            <a:r>
              <a:rPr sz="1125" b="0">
                <a:solidFill>
                  <a:srgbClr val="AAB7AF"/>
                </a:solidFill>
              </a:rPr>
              <a:t>Not a formal proof of every reachable state. An independently built model and Solidity implementation agreed on the entire pre-sealed corpus.</a:t>
            </a:r>
          </a:p>
        </p:txBody>
      </p:sp>
    </p:spTree>
    <p:extLst>
      <p:ext uri="{BB962C8B-B14F-4D97-AF65-F5344CB8AC3E}">
        <p14:creationId xmlns:p14="http://schemas.microsoft.com/office/powerpoint/2010/main" val="1288890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720C75-94C7-41C6-AA41-9749D12B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8B580-FBFD-4887-A003-70E345CB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PERMISSIONLESS WORKER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3C943-9C13-462D-B2F8-26435ED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B041C-0342-4590-B58C-B8615B07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7095B-E5F3-4B64-829A-F709AD5F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1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The external race ended with zero worker signatures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E282D-40F4-49A4-BBDE-F8AFA9B3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50" b="1">
                <a:solidFill>
                  <a:srgbClr val="B8FF61"/>
                </a:solidFill>
              </a:defRPr>
            </a:pPr>
            <a:r>
              <a:rPr sz="13050" b="1">
                <a:solidFill>
                  <a:srgbClr val="B8FF61"/>
                </a:solidFill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751DB-7AD2-4DFF-AEDF-F3058F64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F5EF"/>
                </a:solidFill>
              </a:defRPr>
            </a:pPr>
            <a:r>
              <a:rPr sz="1800" b="1">
                <a:solidFill>
                  <a:srgbClr val="EDF5EF"/>
                </a:solidFill>
              </a:rPr>
              <a:t>worker signatures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FEABB-4414-4936-8959-36A09427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7AF"/>
                </a:solidFill>
              </a:defRPr>
            </a:pPr>
            <a:r>
              <a:rPr sz="1350" b="0">
                <a:solidFill>
                  <a:srgbClr val="AAB7AF"/>
                </a:solidFill>
              </a:rPr>
              <a:t>0 broadcasts · nonce unchanged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6BE49-F23E-4337-8421-8D7947BD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D40C2-2CBB-4913-99A8-9F8DF3C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5260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DF5EF"/>
                </a:solidFill>
              </a:defRPr>
            </a:pPr>
            <a:r>
              <a:rPr sz="2100" b="1">
                <a:solidFill>
                  <a:srgbClr val="EDF5EF"/>
                </a:solidFill>
              </a:rPr>
              <a:t>A second wallet submitted the proof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B6965-38DA-4310-9555-C17E088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5267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7AF"/>
                </a:solidFill>
              </a:defRPr>
            </a:pPr>
            <a:r>
              <a:rPr sz="1725" b="0">
                <a:solidFill>
                  <a:srgbClr val="AAB7AF"/>
                </a:solidFill>
              </a:rPr>
              <a:t>The worker read the on-chain state, found the fact already recorded and closed the task without signing or broadcasting. The deal state remained correct.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F1F8A-5F2A-4973-85B6-EA025C18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6191250" cy="1076325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3A49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6DE76-8185-4E8C-BB8E-5F6EDF87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F4D4"/>
                </a:solidFill>
              </a:defRPr>
            </a:pPr>
            <a:r>
              <a:rPr sz="1050" b="1">
                <a:solidFill>
                  <a:srgbClr val="66F4D4"/>
                </a:solidFill>
              </a:rPr>
              <a:t>WHY THIS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5D340-366F-46F2-B92B-E94063E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3382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F5EF"/>
                </a:solidFill>
              </a:defRPr>
            </a:pPr>
            <a:r>
              <a:rPr sz="1425" b="0">
                <a:solidFill>
                  <a:srgbClr val="EDF5EF"/>
                </a:solidFill>
              </a:rPr>
              <a:t>The worker can deliver valid facts, but cannot forge one or force a transition the public contracts do not permit.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2891C-86E3-4E6A-BEBB-9B5BE791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101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DF5EF"/>
                </a:solidFill>
              </a:defRPr>
            </a:pPr>
            <a:r>
              <a:rPr sz="1650" b="1">
                <a:solidFill>
                  <a:srgbClr val="EDF5EF"/>
                </a:solidFill>
              </a:rPr>
              <a:t>No worker-only contract method exists. A test-derived allowlist fails if a third state-changing worker method appears.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D1B9E-5E4D-41FF-8B2C-2261DF5C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B8FF61"/>
                </a:solidFill>
              </a:defRPr>
            </a:pPr>
            <a:r>
              <a:rPr sz="1200" b="1">
                <a:solidFill>
                  <a:srgbClr val="B8FF61"/>
                </a:solidFill>
                <a:hlinkClick xmlns:r="http://schemas.openxmlformats.org/officeDocument/2006/relationships" r:id="R22e751b03d6a4ed7"/>
              </a:rPr>
              <a:t>Inspect the S6 coverage matrix ↗</a:t>
            </a:r>
          </a:p>
        </p:txBody>
      </p:sp>
    </p:spTree>
    <p:extLst>
      <p:ext uri="{BB962C8B-B14F-4D97-AF65-F5344CB8AC3E}">
        <p14:creationId xmlns:p14="http://schemas.microsoft.com/office/powerpoint/2010/main" val="2123843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C7A20-89CB-4221-A244-B37152A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BFDCE-83B6-46FD-8163-EB98F84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PROTOCOL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835A-A733-45A3-BC8F-A4712952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C91E7-8D3E-44D9-8235-0F93192B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ABBF5-3919-4EA1-8DF0-38DECB4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4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Building on Attestcoin meant measuring its operational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534A3-EE7F-493A-99DB-CBAC6EA2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3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D388F-9293-4155-9C06-FA29DDB3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362"/>
                </a:solidFill>
              </a:defRPr>
            </a:pPr>
            <a:r>
              <a:rPr sz="1050" b="1">
                <a:solidFill>
                  <a:srgbClr val="FF9362"/>
                </a:solidFill>
              </a:rPr>
              <a:t>GAS ACCOUNTING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C5F1D-E451-4C0E-8BAB-E91092F4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3095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EDF5EF"/>
                </a:solidFill>
              </a:defRPr>
            </a:pPr>
            <a:r>
              <a:rPr sz="1350" b="1">
                <a:solidFill>
                  <a:srgbClr val="EDF5EF"/>
                </a:solidFill>
                <a:latin typeface="DejaVu Sans Mono"/>
                <a:ea typeface="DejaVu Sans Mono"/>
                <a:cs typeface="DejaVu Sans Mono"/>
              </a:rPr>
              <a:t>verify</a:t>
            </a:r>
            <a:r>
              <a:rPr sz="1350">
                <a:solidFill>
                  <a:srgbClr val="EDF5EF"/>
                </a:solidFill>
              </a:rPr>
              <a:t> and </a:t>
            </a:r>
            <a:r>
              <a:rPr sz="1350" b="1">
                <a:solidFill>
                  <a:srgbClr val="EDF5EF"/>
                </a:solidFill>
                <a:latin typeface="DejaVu Sans Mono"/>
                <a:ea typeface="DejaVu Sans Mono"/>
                <a:cs typeface="DejaVu Sans Mono"/>
              </a:rPr>
              <a:t>verifyAndEmit</a:t>
            </a:r>
            <a:r>
              <a:rPr sz="1350">
                <a:solidFill>
                  <a:srgbClr val="EDF5EF"/>
                </a:solidFill>
              </a:rPr>
              <a:t> used identical gas on identical inputs. The team indicated the event should technically be charged and builders may see a </a:t>
            </a:r>
            <a:r>
              <a:rPr sz="1350" b="1">
                <a:solidFill>
                  <a:srgbClr val="EDF5EF"/>
                </a:solidFill>
                <a:latin typeface="DejaVu Sans Mono"/>
                <a:ea typeface="DejaVu Sans Mono"/>
                <a:cs typeface="DejaVu Sans Mono"/>
              </a:rPr>
              <a:t>LOG3</a:t>
            </a:r>
            <a:r>
              <a:rPr sz="1350">
                <a:solidFill>
                  <a:srgbClr val="EDF5EF"/>
                </a:solidFill>
              </a:rPr>
              <a:t>-sized increase.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13EC4-4C85-484E-A4AB-95A2F6BB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9070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F4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6829F-7671-4406-9B90-60D032B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383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F4D4"/>
                </a:solidFill>
              </a:defRPr>
            </a:pPr>
            <a:r>
              <a:rPr sz="1050" b="1">
                <a:solidFill>
                  <a:srgbClr val="66F4D4"/>
                </a:solidFill>
              </a:rPr>
              <a:t>PROOF RETENTION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C85FF-FFD0-4F1C-B567-1535D5FB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05075"/>
            <a:ext cx="3095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EDF5EF"/>
                </a:solidFill>
              </a:defRPr>
            </a:pPr>
            <a:r>
              <a:rPr sz="1500">
                <a:solidFill>
                  <a:srgbClr val="EDF5EF"/>
                </a:solidFill>
              </a:rPr>
              <a:t>Ordinary-attestation proofs stop verifying after pruning. Under current runtime and archive-node policies, old facts remain re-provable; this is not claimed as immutable.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704B6-E5EB-4802-9659-413CD730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DB20C-1D5A-4314-8739-FC62550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ENCODED LEAF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B1D6E-50EE-468B-A317-86C32B0C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05075"/>
            <a:ext cx="3095625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EDF5EF"/>
                </a:solidFill>
              </a:defRPr>
            </a:pPr>
            <a:r>
              <a:rPr sz="1350">
                <a:solidFill>
                  <a:srgbClr val="EDF5EF"/>
                </a:solidFill>
              </a:rPr>
              <a:t>The proven leaf is Attestcoin-specific, not RLP. RPC wrapper fields outside canonical roots, including </a:t>
            </a:r>
            <a:r>
              <a:rPr sz="1350" b="1">
                <a:solidFill>
                  <a:srgbClr val="EDF5EF"/>
                </a:solidFill>
                <a:latin typeface="DejaVu Sans Mono"/>
                <a:ea typeface="DejaVu Sans Mono"/>
                <a:cs typeface="DejaVu Sans Mono"/>
              </a:rPr>
              <a:t>from</a:t>
            </a:r>
            <a:r>
              <a:rPr sz="1350">
                <a:solidFill>
                  <a:srgbClr val="EDF5EF"/>
                </a:solidFill>
              </a:rPr>
              <a:t> and </a:t>
            </a:r>
            <a:r>
              <a:rPr sz="1350" b="1">
                <a:solidFill>
                  <a:srgbClr val="EDF5EF"/>
                </a:solidFill>
                <a:latin typeface="DejaVu Sans Mono"/>
                <a:ea typeface="DejaVu Sans Mono"/>
                <a:cs typeface="DejaVu Sans Mono"/>
              </a:rPr>
              <a:t>gasUsed</a:t>
            </a:r>
            <a:r>
              <a:rPr sz="1350">
                <a:solidFill>
                  <a:srgbClr val="EDF5EF"/>
                </a:solidFill>
              </a:rPr>
              <a:t>, influence nothing in Cr3dX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1B168-8E70-4FCC-9750-69E04F0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11010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311"/>
          </a:solidFill>
          <a:ln xmlns:a="http://schemas.openxmlformats.org/drawingml/2006/main" w="9525">
            <a:solidFill>
              <a:srgbClr val="3A49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C5CF3-49D7-4368-ACB2-2C2CABC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71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WORKER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7D9BE-0EBC-4C7D-9C96-079FEF78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81550"/>
            <a:ext cx="8715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DF5EF"/>
                </a:solidFill>
              </a:defRPr>
            </a:pPr>
            <a:r>
              <a:rPr sz="1500" b="0">
                <a:solidFill>
                  <a:srgbClr val="EDF5EF"/>
                </a:solidFill>
              </a:rPr>
              <a:t>Before each new signature, request a proof again. After signing, recover only by rebroadcasting the exact saved raw transaction.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0C2689-642C-4228-A932-8E937E84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15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EDF5EF"/>
                </a:solidFill>
              </a:defRPr>
            </a:pPr>
            <a:r>
              <a:rPr sz="1200" b="1">
                <a:solidFill>
                  <a:srgbClr val="EDF5EF"/>
                </a:solidFill>
                <a:hlinkClick xmlns:r="http://schemas.openxmlformats.org/officeDocument/2006/relationships" r:id="R9084b5be81404033"/>
              </a:rPr>
              <a:t>Precompile findings ↗</a:t>
            </a:r>
            <a:r>
              <a:rPr sz="1200">
                <a:solidFill>
                  <a:srgbClr val="EDF5EF"/>
                </a:solidFill>
              </a:rPr>
              <a:t>    </a:t>
            </a:r>
            <a:r>
              <a:rPr sz="1200" b="1">
                <a:solidFill>
                  <a:srgbClr val="EDF5EF"/>
                </a:solidFill>
                <a:hlinkClick xmlns:r="http://schemas.openxmlformats.org/officeDocument/2006/relationships" r:id="R1a76f98ef31c48f4"/>
              </a:rPr>
              <a:t>Attestcoin integration ↗</a:t>
            </a:r>
          </a:p>
        </p:txBody>
      </p:sp>
    </p:spTree>
    <p:extLst>
      <p:ext uri="{BB962C8B-B14F-4D97-AF65-F5344CB8AC3E}">
        <p14:creationId xmlns:p14="http://schemas.microsoft.com/office/powerpoint/2010/main" val="762304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3D701D-1106-46FC-BFFF-009AE862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6461F-05EC-44AB-AF75-E3173621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ROADMAP · AS OF 20 AUG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DEE59-2984-4211-AE64-797B416D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14770-65DF-4B23-A2FF-B8CC48D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1BCB2-4E34-445E-992B-30B53E7F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61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The next steps have named conditions, not vague ambition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86997-BEB3-42C6-9070-E762BF02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AF"/>
                </a:solidFill>
              </a:defRPr>
            </a:pPr>
            <a:r>
              <a:rPr sz="1050" b="1">
                <a:solidFill>
                  <a:srgbClr val="AAB7AF"/>
                </a:solidFill>
              </a:rPr>
              <a:t>DIRECTION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6595A-4755-48FB-91F7-5CD39A01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AF"/>
                </a:solidFill>
              </a:defRPr>
            </a:pPr>
            <a:r>
              <a:rPr sz="1050" b="1">
                <a:solidFill>
                  <a:srgbClr val="AAB7AF"/>
                </a:solidFill>
              </a:rPr>
              <a:t>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A02DC-2245-437E-A688-DF0B9BAD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AF"/>
                </a:solidFill>
              </a:defRPr>
            </a:pPr>
            <a:r>
              <a:rPr sz="1050" b="1">
                <a:solidFill>
                  <a:srgbClr val="AAB7AF"/>
                </a:solidFill>
              </a:rPr>
              <a:t>WHY DEFERRED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4CBFF-FD77-4466-A955-927C758E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14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AB7AF"/>
                </a:solidFill>
              </a:defRPr>
            </a:pPr>
            <a:r>
              <a:rPr sz="1050" b="1">
                <a:solidFill>
                  <a:srgbClr val="AAB7AF"/>
                </a:solidFill>
              </a:rPr>
              <a:t>UNLOCK CONDITION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1A4D0-A966-4961-9856-C2B9CC83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877F8-717C-4197-B72E-5B1AE139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11010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FCEC1-43B8-4E2B-844B-1DF41806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EF"/>
                </a:solidFill>
              </a:defRPr>
            </a:pPr>
            <a:r>
              <a:rPr sz="1350" b="1">
                <a:solidFill>
                  <a:srgbClr val="EDF5EF"/>
                </a:solidFill>
              </a:rPr>
              <a:t>Escrow + enforcement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6E07D-FAA1-451B-BFA2-C478EE7E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Real recourse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33E87-BE29-483E-9E6B-5CC625BA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4312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Needs a write back to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47452-EEFD-4D18-8A6A-FB7AA2E1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Outbound Attestcoin capability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09E9C-8C88-4E99-BB92-5D2D74C2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EF"/>
                </a:solidFill>
              </a:defRPr>
            </a:pPr>
            <a:r>
              <a:rPr sz="1350" b="1">
                <a:solidFill>
                  <a:srgbClr val="EDF5EF"/>
                </a:solidFill>
              </a:rPr>
              <a:t>Safe reserve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66108-D631-433C-81DF-5D6A2524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Stops abandoned locks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0D4D4-3B55-4253-993A-A7841B21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Must block source funding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50395-0BAF-431E-BF4E-70B81FEB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384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Same outbound capability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688DD-E8EF-495C-B83B-91BCB343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11010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CDB15-097D-4131-B59E-4464185B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EF"/>
                </a:solidFill>
              </a:defRPr>
            </a:pPr>
            <a:r>
              <a:rPr sz="1350" b="1">
                <a:solidFill>
                  <a:srgbClr val="EDF5EF"/>
                </a:solidFill>
              </a:rPr>
              <a:t>Sybil resistance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180CD-8FB5-49EA-AE20-953BD547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3377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Identity-level reputation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C7937-BF57-4835-8BE9-AAE1135D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3377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Outside v0.1 trust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661323-0747-461F-9CE8-DCBA64E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3377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Issuer identity verification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BB77B-6A57-4EF8-844A-AB8B8596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EF"/>
                </a:solidFill>
              </a:defRPr>
            </a:pPr>
            <a:r>
              <a:rPr sz="1350" b="1">
                <a:solidFill>
                  <a:srgbClr val="EDF5EF"/>
                </a:solidFill>
              </a:rPr>
              <a:t>Worker batching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D23A4-64AA-45BE-8B90-6242BBE5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291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Lower per-fact gas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64622-0E75-45C7-B315-E4081E4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291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Atomic-revert recovery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3F830-D923-4A13-A8D9-2E1E796E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291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Revisit at real volume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ED6F5-482A-4840-9007-AA6D899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1010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3FF97-0822-45C7-822E-E1CFAEEB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F5EF"/>
                </a:solidFill>
              </a:defRPr>
            </a:pPr>
            <a:r>
              <a:rPr sz="1350" b="1">
                <a:solidFill>
                  <a:srgbClr val="EDF5EF"/>
                </a:solidFill>
              </a:rPr>
              <a:t>Parallel submission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8FDED7-F54E-4D72-9DFD-CA8DD518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244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Higher throughput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CA93B1-EB6B-455E-AC8B-02FEFCC9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24425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Reintroduces nonce-lane 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639FB5-D3FF-4493-970B-964BC0FC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244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7AF"/>
                </a:solidFill>
              </a:defRPr>
            </a:pPr>
            <a:r>
              <a:rPr sz="1200" b="0">
                <a:solidFill>
                  <a:srgbClr val="AAB7AF"/>
                </a:solidFill>
              </a:rPr>
              <a:t>Only under measured 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823C70-482E-4021-9038-332EBA5B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76FE70-EB50-461A-855F-0FF9417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F61"/>
                </a:solidFill>
              </a:defRPr>
            </a:pPr>
            <a:r>
              <a:rPr sz="1500" b="1">
                <a:solidFill>
                  <a:srgbClr val="B8FF61"/>
                </a:solidFill>
              </a:rPr>
              <a:t>Any semantic change invalidates the sealed 63/63 result. Shipping it requires a new independent model freeze and complete replay.</a:t>
            </a:r>
          </a:p>
        </p:txBody>
      </p:sp>
    </p:spTree>
    <p:extLst>
      <p:ext uri="{BB962C8B-B14F-4D97-AF65-F5344CB8AC3E}">
        <p14:creationId xmlns:p14="http://schemas.microsoft.com/office/powerpoint/2010/main" val="14196375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FEC298-0435-4700-94A2-2B73F9B8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30CEF-22F6-4F9C-A6A3-2E220FDC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CR3DX / MEASURED +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775AD-CE0A-4ED0-9269-89FA087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7948C"/>
                </a:solidFill>
              </a:defRPr>
            </a:pPr>
            <a:r>
              <a:rPr sz="1050" b="1">
                <a:solidFill>
                  <a:srgbClr val="87948C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D7961-F86D-4176-B2B3-7CCBCF30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8B69B-84EA-4DFD-A130-FA20E214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101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34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DF5EF"/>
                </a:solidFill>
              </a:defRPr>
            </a:pPr>
            <a:r>
              <a:rPr sz="3600" b="1">
                <a:solidFill>
                  <a:srgbClr val="EDF5EF"/>
                </a:solidFill>
              </a:rPr>
              <a:t>Every headline number has a transaction, a timestamp or a manifest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600D2-A669-4334-9ECD-C47D5FEE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MINED CREDITCOIN 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3F1FD-62DD-4C72-B901-88F181D6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5E180-EB86-4E0E-AE8E-1671D06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F5EF"/>
                </a:solidFill>
              </a:defRPr>
            </a:pPr>
            <a:r>
              <a:rPr sz="1200" b="0">
                <a:solidFill>
                  <a:srgbClr val="EDF5EF"/>
                </a:solidFill>
              </a:rPr>
              <a:t>Repayment submitAndApply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B6195-1B46-4D4F-B194-98202550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F61"/>
                </a:solidFill>
              </a:defRPr>
            </a:pPr>
            <a:r>
              <a:rPr sz="1350" b="1">
                <a:solidFill>
                  <a:srgbClr val="B8FF61"/>
                </a:solidFill>
              </a:rPr>
              <a:t>260,288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30E69-B4D2-477B-979F-F1BD7EC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716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7AF"/>
                </a:solidFill>
              </a:defRPr>
            </a:pPr>
            <a:r>
              <a:rPr sz="1050" b="0">
                <a:solidFill>
                  <a:srgbClr val="AAB7AF"/>
                </a:solidFill>
              </a:rPr>
              <a:t>8 roots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070A7-FA13-4BD4-8032-FD8E981E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587F9-8FE7-41F8-AA50-098CDF4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F5EF"/>
                </a:solidFill>
              </a:defRPr>
            </a:pPr>
            <a:r>
              <a:rPr sz="1200" b="0">
                <a:solidFill>
                  <a:srgbClr val="EDF5EF"/>
                </a:solidFill>
              </a:rPr>
              <a:t>Funding submitAndApply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3200B-5295-464F-B330-921AA40E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F61"/>
                </a:solidFill>
              </a:defRPr>
            </a:pPr>
            <a:r>
              <a:rPr sz="1350" b="1">
                <a:solidFill>
                  <a:srgbClr val="B8FF61"/>
                </a:solidFill>
              </a:rPr>
              <a:t>340,382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56880-B6EB-4AE4-A460-D06C9772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69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7AF"/>
                </a:solidFill>
              </a:defRPr>
            </a:pPr>
            <a:r>
              <a:rPr sz="1050" b="0">
                <a:solidFill>
                  <a:srgbClr val="AAB7AF"/>
                </a:solidFill>
              </a:rPr>
              <a:t>5 roots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236C5-672A-44B7-A217-715152A3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2A898-2160-4C65-A638-A1428F20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F5EF"/>
                </a:solidFill>
              </a:defRPr>
            </a:pPr>
            <a:r>
              <a:rPr sz="1200" b="0">
                <a:solidFill>
                  <a:srgbClr val="EDF5EF"/>
                </a:solidFill>
              </a:rPr>
              <a:t>Repayment applyEvidence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C50BD-E790-45C4-8F3E-0C9D791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F61"/>
                </a:solidFill>
              </a:defRPr>
            </a:pPr>
            <a:r>
              <a:rPr sz="1350" b="1">
                <a:solidFill>
                  <a:srgbClr val="B8FF61"/>
                </a:solidFill>
              </a:rPr>
              <a:t>292,348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33A4B-700C-4FBC-98C2-CEECA7E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622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7AF"/>
                </a:solidFill>
              </a:defRPr>
            </a:pPr>
            <a:r>
              <a:rPr sz="1050" b="0">
                <a:solidFill>
                  <a:srgbClr val="AAB7AF"/>
                </a:solidFill>
              </a:rPr>
              <a:t>submitted earlier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A4012F-205C-486A-97A1-73D34C7A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8688B-5BD7-4368-8498-1E1CA68F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DF5EF"/>
                </a:solidFill>
              </a:defRPr>
            </a:pPr>
            <a:r>
              <a:rPr sz="1200" b="0">
                <a:solidFill>
                  <a:srgbClr val="EDF5EF"/>
                </a:solidFill>
              </a:rPr>
              <a:t>External-race submitAndApply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E51C4-8466-4AC1-867B-4FC2AAE7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F61"/>
                </a:solidFill>
              </a:defRPr>
            </a:pPr>
            <a:r>
              <a:rPr sz="1350" b="1">
                <a:solidFill>
                  <a:srgbClr val="B8FF61"/>
                </a:solidFill>
              </a:rPr>
              <a:t>266,056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1FDD8-AF39-4E62-A228-7D5C05D2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5757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7AF"/>
                </a:solidFill>
              </a:defRPr>
            </a:pPr>
            <a:r>
              <a:rPr sz="1050" b="0">
                <a:solidFill>
                  <a:srgbClr val="AAB7AF"/>
                </a:solidFill>
              </a:rPr>
              <a:t>10 roots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3CC76-502F-42BC-9971-50C43298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F4D4"/>
                </a:solidFill>
              </a:defRPr>
            </a:pPr>
            <a:r>
              <a:rPr sz="1050" b="1">
                <a:solidFill>
                  <a:srgbClr val="66F4D4"/>
                </a:solidFill>
              </a:rPr>
              <a:t>SOURCE → FIRST PROOF-READY OBSERVATION → MINED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6022C-6A06-45D8-BAF1-0DD06AA4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7948C"/>
                </a:solidFill>
              </a:defRPr>
            </a:pPr>
            <a:r>
              <a:rPr sz="975" b="0">
                <a:solidFill>
                  <a:srgbClr val="87948C"/>
                </a:solidFill>
              </a:rPr>
              <a:t>Operation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DDBD7-AD48-4983-8387-C097DEA6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48C"/>
                </a:solidFill>
              </a:defRPr>
            </a:pPr>
            <a:r>
              <a:rPr sz="975" b="0">
                <a:solidFill>
                  <a:srgbClr val="87948C"/>
                </a:solidFill>
              </a:rPr>
              <a:t>Proof-ready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2E3EE-07B3-4B74-82B4-211E7438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526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7948C"/>
                </a:solidFill>
              </a:defRPr>
            </a:pPr>
            <a:r>
              <a:rPr sz="975" b="0">
                <a:solidFill>
                  <a:srgbClr val="87948C"/>
                </a:solidFill>
              </a:rPr>
              <a:t>Mined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7F185-5662-4ABB-88D3-159B8A7D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65871-AB25-4B86-AB69-F6459174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DF5EF"/>
                </a:solidFill>
              </a:defRPr>
            </a:pPr>
            <a:r>
              <a:rPr sz="1275" b="0">
                <a:solidFill>
                  <a:srgbClr val="EDF5EF"/>
                </a:solidFill>
              </a:rPr>
              <a:t>Repayment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5896B-E061-42FC-9D5C-8C3CD712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57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F4D4"/>
                </a:solidFill>
              </a:defRPr>
            </a:pPr>
            <a:r>
              <a:rPr sz="1275" b="1">
                <a:solidFill>
                  <a:srgbClr val="66F4D4"/>
                </a:solidFill>
              </a:rPr>
              <a:t>1,669.539 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3E4C6-8749-44C3-ADC8-0A458892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57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DF5EF"/>
                </a:solidFill>
              </a:defRPr>
            </a:pPr>
            <a:r>
              <a:rPr sz="1275" b="1">
                <a:solidFill>
                  <a:srgbClr val="EDF5EF"/>
                </a:solidFill>
              </a:rPr>
              <a:t>1,734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EA6D6-E57B-4DB5-B511-00B8F3CB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DF0F9-4F05-4F82-B53B-0196595C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DF5EF"/>
                </a:solidFill>
              </a:defRPr>
            </a:pPr>
            <a:r>
              <a:rPr sz="1275" b="0">
                <a:solidFill>
                  <a:srgbClr val="EDF5EF"/>
                </a:solidFill>
              </a:rPr>
              <a:t>Funding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FE456-BAB6-4815-B9CA-3DF7EAA0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9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F4D4"/>
                </a:solidFill>
              </a:defRPr>
            </a:pPr>
            <a:r>
              <a:rPr sz="1275" b="1">
                <a:solidFill>
                  <a:srgbClr val="66F4D4"/>
                </a:solidFill>
              </a:rPr>
              <a:t>665.107 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8AE916-B2B9-4B97-AB6E-E2C2C2DB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9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DF5EF"/>
                </a:solidFill>
              </a:defRPr>
            </a:pPr>
            <a:r>
              <a:rPr sz="1275" b="1">
                <a:solidFill>
                  <a:srgbClr val="EDF5EF"/>
                </a:solidFill>
              </a:rPr>
              <a:t>720 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E90E44-4D67-4317-B97F-F91FC04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A35B7-6283-4A19-A8E1-E03BA184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DF5EF"/>
                </a:solidFill>
              </a:defRPr>
            </a:pPr>
            <a:r>
              <a:rPr sz="1275" b="0">
                <a:solidFill>
                  <a:srgbClr val="EDF5EF"/>
                </a:solidFill>
              </a:rPr>
              <a:t>External race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1CC570-A37A-4677-B68E-3F449BD0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62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F4D4"/>
                </a:solidFill>
              </a:defRPr>
            </a:pPr>
            <a:r>
              <a:rPr sz="1275" b="1">
                <a:solidFill>
                  <a:srgbClr val="66F4D4"/>
                </a:solidFill>
              </a:rPr>
              <a:t>588.271 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A6DAE5-25D2-48BC-9D67-654A03D4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62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DF5EF"/>
                </a:solidFill>
              </a:defRPr>
            </a:pPr>
            <a:r>
              <a:rPr sz="1275" b="1">
                <a:solidFill>
                  <a:srgbClr val="EDF5EF"/>
                </a:solidFill>
              </a:rPr>
              <a:t>651 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9CBA44-4B2E-4BF7-82EF-D3C2C47E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7AF"/>
                </a:solidFill>
              </a:defRPr>
            </a:pPr>
            <a:r>
              <a:rPr sz="1125" b="0">
                <a:solidFill>
                  <a:srgbClr val="AAB7AF"/>
                </a:solidFill>
              </a:rPr>
              <a:t>One testnet run, not an SLA. Exact attestation-transition timestamps were not recorded. Gas rows changed different states and proof shapes; they are evidence records, not a controlled comparison.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3E2729-8E52-419F-8349-2FC702EC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C03075-36AF-4175-8FFD-AE0F20E9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FF61"/>
                </a:solidFill>
              </a:defRPr>
            </a:pPr>
            <a:r>
              <a:rPr sz="1050" b="1">
                <a:solidFill>
                  <a:srgbClr val="B8FF61"/>
                </a:solidFill>
              </a:rPr>
              <a:t>VERIFY 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2B95D-FF82-4D99-88CA-335EA95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05400"/>
            <a:ext cx="94583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DF5EF"/>
                </a:solidFill>
              </a:defRPr>
            </a:pPr>
            <a:r>
              <a:rPr sz="1275" b="1">
                <a:solidFill>
                  <a:srgbClr val="EDF5EF"/>
                </a:solidFill>
                <a:hlinkClick xmlns:r="http://schemas.openxmlformats.org/officeDocument/2006/relationships" r:id="R40e925ac65da40d0"/>
              </a:rPr>
              <a:t>Live dashboard ↗</a:t>
            </a:r>
            <a:r>
              <a:rPr sz="1275">
                <a:solidFill>
                  <a:srgbClr val="EDF5EF"/>
                </a:solidFill>
              </a:rPr>
              <a:t>    </a:t>
            </a:r>
            <a:r>
              <a:rPr sz="1275" b="1">
                <a:solidFill>
                  <a:srgbClr val="EDF5EF"/>
                </a:solidFill>
                <a:hlinkClick xmlns:r="http://schemas.openxmlformats.org/officeDocument/2006/relationships" r:id="Rd20664c6ba8743bc"/>
              </a:rPr>
              <a:t>Repository ↗</a:t>
            </a:r>
            <a:r>
              <a:rPr sz="1275">
                <a:solidFill>
                  <a:srgbClr val="EDF5EF"/>
                </a:solidFill>
              </a:rPr>
              <a:t>    </a:t>
            </a:r>
            <a:r>
              <a:rPr sz="1275" b="1">
                <a:solidFill>
                  <a:srgbClr val="EDF5EF"/>
                </a:solidFill>
                <a:hlinkClick xmlns:r="http://schemas.openxmlformats.org/officeDocument/2006/relationships" r:id="Ra1a0e46e3f2c46a6"/>
              </a:rPr>
              <a:t>Phase B manifests ↗</a:t>
            </a:r>
          </a:p>
          <a:p xmlns:a="http://schemas.openxmlformats.org/drawingml/2006/main">
            <a:pPr algn="l">
              <a:defRPr sz="1275">
                <a:solidFill>
                  <a:srgbClr val="EDF5EF"/>
                </a:solidFill>
              </a:defRPr>
            </a:pPr>
            <a:r>
              <a:rPr sz="1275">
                <a:solidFill>
                  <a:srgbClr val="EDF5EF"/>
                </a:solidFill>
              </a:rPr>
              <a:t>Local: </a:t>
            </a:r>
            <a:r>
              <a:rPr sz="1275" b="1">
                <a:solidFill>
                  <a:srgbClr val="EDF5EF"/>
                </a:solidFill>
              </a:rPr>
              <a:t>forge test · npm run test:worker · npm run test:scripts</a:t>
            </a:r>
          </a:p>
          <a:p xmlns:a="http://schemas.openxmlformats.org/drawingml/2006/main">
            <a:pPr algn="l">
              <a:defRPr sz="1275">
                <a:solidFill>
                  <a:srgbClr val="EDF5EF"/>
                </a:solidFill>
              </a:defRPr>
            </a:pPr>
            <a:r>
              <a:rPr sz="1275">
                <a:solidFill>
                  <a:srgbClr val="EDF5EF"/>
                </a:solidFill>
              </a:rPr>
              <a:t>Live: </a:t>
            </a:r>
            <a:r>
              <a:rPr sz="1275" b="1">
                <a:solidFill>
                  <a:srgbClr val="EDF5EF"/>
                </a:solidFill>
                <a:hlinkClick xmlns:r="http://schemas.openxmlformats.org/officeDocument/2006/relationships" r:id="R5861ad9b3d5f43d8"/>
              </a:rPr>
              <a:t>S5 npm run s5:fresh · S6 operator runbook 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21F42C-9BB2-4DB5-88C9-EC8E737E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7AF"/>
                </a:solidFill>
              </a:defRPr>
            </a:pPr>
            <a:r>
              <a:rPr sz="1050" b="0">
                <a:solidFill>
                  <a:srgbClr val="AAB7AF"/>
                </a:solidFill>
              </a:rPr>
              <a:t>Deployed v0.4.8 · Gateway 0x11DD…a749 · Verifier 0xED64…093 · Deals 0x8f7B…3cC · Credit 0x4a66…5C8</a:t>
            </a:r>
          </a:p>
        </p:txBody>
      </p:sp>
    </p:spTree>
    <p:extLst>
      <p:ext uri="{BB962C8B-B14F-4D97-AF65-F5344CB8AC3E}">
        <p14:creationId xmlns:p14="http://schemas.microsoft.com/office/powerpoint/2010/main" val="1817433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2026-08-21T17:07:05.6960000Z</dcterms:created>
  <dcterms:modified xsi:type="dcterms:W3CDTF">2026-08-21T17:07:05.6960000Z</dcterms:modified>
</coreProperties>
</file>