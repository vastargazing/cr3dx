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a6524fe6114052" /><Relationship Type="http://schemas.openxmlformats.org/officeDocument/2006/relationships/extended-properties" Target="/docProps/app.xml" Id="R03e8ac2a465e4645" /><Relationship Type="http://schemas.openxmlformats.org/officeDocument/2006/relationships/officeDocument" Target="/ppt/presentation.xml" Id="Rd5218756060042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b49ed05570410d"/>
  </p:sldMasterIdLst>
  <p:notesMasterIdLst>
    <p:notesMasterId xmlns:r="http://schemas.openxmlformats.org/officeDocument/2006/relationships" r:id="R544529a3905340b0"/>
  </p:notesMasterIdLst>
  <p:sldIdLst>
    <p:sldId xmlns:r="http://schemas.openxmlformats.org/officeDocument/2006/relationships" id="256" r:id="Rbef3f7b1d88d4936"/>
    <p:sldId xmlns:r="http://schemas.openxmlformats.org/officeDocument/2006/relationships" id="257" r:id="Rc63ce398935d4587"/>
    <p:sldId xmlns:r="http://schemas.openxmlformats.org/officeDocument/2006/relationships" id="258" r:id="R7de4ea6d56a04d65"/>
    <p:sldId xmlns:r="http://schemas.openxmlformats.org/officeDocument/2006/relationships" id="259" r:id="R03604e8cbfc44b1b"/>
    <p:sldId xmlns:r="http://schemas.openxmlformats.org/officeDocument/2006/relationships" id="260" r:id="R7ab6f63b143a40b5"/>
    <p:sldId xmlns:r="http://schemas.openxmlformats.org/officeDocument/2006/relationships" id="261" r:id="R8f98af2f496a4e1b"/>
    <p:sldId xmlns:r="http://schemas.openxmlformats.org/officeDocument/2006/relationships" id="262" r:id="R9de79831a5db482d"/>
    <p:sldId xmlns:r="http://schemas.openxmlformats.org/officeDocument/2006/relationships" id="263" r:id="Rdc9434549cd2495b"/>
    <p:sldId xmlns:r="http://schemas.openxmlformats.org/officeDocument/2006/relationships" id="264" r:id="Rdf5da1fb234e4f61"/>
    <p:sldId xmlns:r="http://schemas.openxmlformats.org/officeDocument/2006/relationships" id="265" r:id="R340d085f20e64c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13f1bc755c470d" /><Relationship Type="http://schemas.openxmlformats.org/officeDocument/2006/relationships/slideMaster" Target="/ppt/slideMasters/slideMaster1.xml" Id="R41b49ed05570410d" /><Relationship Type="http://schemas.openxmlformats.org/officeDocument/2006/relationships/notesMaster" Target="/ppt/notesMasters/notesMaster1.xml" Id="R544529a3905340b0" /><Relationship Type="http://schemas.openxmlformats.org/officeDocument/2006/relationships/presProps" Target="/ppt/presProps.xml" Id="R9c84b89323184810" /><Relationship Type="http://schemas.openxmlformats.org/officeDocument/2006/relationships/tableStyles" Target="/ppt/tableStyles.xml" Id="Ra0caa27aeec04211" /><Relationship Type="http://schemas.openxmlformats.org/officeDocument/2006/relationships/slide" Target="/ppt/slides/slide1.xml" Id="Rbef3f7b1d88d4936" /><Relationship Type="http://schemas.openxmlformats.org/officeDocument/2006/relationships/slide" Target="/ppt/slides/slide2.xml" Id="Rc63ce398935d4587" /><Relationship Type="http://schemas.openxmlformats.org/officeDocument/2006/relationships/slide" Target="/ppt/slides/slide3.xml" Id="R7de4ea6d56a04d65" /><Relationship Type="http://schemas.openxmlformats.org/officeDocument/2006/relationships/slide" Target="/ppt/slides/slide4.xml" Id="R03604e8cbfc44b1b" /><Relationship Type="http://schemas.openxmlformats.org/officeDocument/2006/relationships/slide" Target="/ppt/slides/slide5.xml" Id="R7ab6f63b143a40b5" /><Relationship Type="http://schemas.openxmlformats.org/officeDocument/2006/relationships/slide" Target="/ppt/slides/slide6.xml" Id="R8f98af2f496a4e1b" /><Relationship Type="http://schemas.openxmlformats.org/officeDocument/2006/relationships/slide" Target="/ppt/slides/slide7.xml" Id="R9de79831a5db482d" /><Relationship Type="http://schemas.openxmlformats.org/officeDocument/2006/relationships/slide" Target="/ppt/slides/slide8.xml" Id="Rdc9434549cd2495b" /><Relationship Type="http://schemas.openxmlformats.org/officeDocument/2006/relationships/slide" Target="/ppt/slides/slide9.xml" Id="Rdf5da1fb234e4f61" /><Relationship Type="http://schemas.openxmlformats.org/officeDocument/2006/relationships/slide" Target="/ppt/slides/slide10.xml" Id="R340d085f20e64c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2b0d0f9b0b4d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r3dX">
  <a:themeElements>
    <a:clrScheme name="Cr3dX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r3dX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6ed22a5d19453c" /><Relationship Type="http://schemas.openxmlformats.org/officeDocument/2006/relationships/notesMaster" Target="/ppt/notesMasters/notesMaster1.xml" Id="R9ba5782b754c48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95c7e33bf24fad" /><Relationship Type="http://schemas.openxmlformats.org/officeDocument/2006/relationships/notesMaster" Target="/ppt/notesMasters/notesMaster1.xml" Id="R4b8caafce3f047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c3a1c5f65541c9" /><Relationship Type="http://schemas.openxmlformats.org/officeDocument/2006/relationships/notesMaster" Target="/ppt/notesMasters/notesMaster1.xml" Id="R342f74dee2a346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47caa5e85b44e7" /><Relationship Type="http://schemas.openxmlformats.org/officeDocument/2006/relationships/notesMaster" Target="/ppt/notesMasters/notesMaster1.xml" Id="R66884520429a45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fdbdce683c46db" /><Relationship Type="http://schemas.openxmlformats.org/officeDocument/2006/relationships/notesMaster" Target="/ppt/notesMasters/notesMaster1.xml" Id="R41417acd308147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2af469dbd04f77" /><Relationship Type="http://schemas.openxmlformats.org/officeDocument/2006/relationships/notesMaster" Target="/ppt/notesMasters/notesMaster1.xml" Id="Reb17612adc1e4c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bf1d2441784aae" /><Relationship Type="http://schemas.openxmlformats.org/officeDocument/2006/relationships/notesMaster" Target="/ppt/notesMasters/notesMaster1.xml" Id="R1c73ab8eaeb146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ebfcf442504436" /><Relationship Type="http://schemas.openxmlformats.org/officeDocument/2006/relationships/notesMaster" Target="/ppt/notesMasters/notesMaster1.xml" Id="R1c52be69ba0a42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b3dcc8fab542c2" /><Relationship Type="http://schemas.openxmlformats.org/officeDocument/2006/relationships/notesMaster" Target="/ppt/notesMasters/notesMaster1.xml" Id="R7f1b2bbc19314d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cde53e7e644be0" /><Relationship Type="http://schemas.openxmlformats.org/officeDocument/2006/relationships/notesMaster" Target="/ppt/notesMasters/notesMaster1.xml" Id="Rb8df2f05aea841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Official event and track naming: https://buidl.creditcoin.org/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Repository: https://github.com/Vastargazing/Cr3dX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Project framing and trust boundary: repository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Architecture and trust boundary: repository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Attestcoin integration details: repository 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Accepted live evidence: https://github.com/Vastargazing/Cr3dX/blob/main/docs/STATUS_EN.md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Creditcoin destination transactions are linked on-slide.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Trust boundary: repository README.md and docs/audit/attestcoin-integration-summary.md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No external smart-contract audit is claimed.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Phase B report and manifests: https://github.com/Vastargazing/Cr3dX/tree/main/docs/verification/v0.4.8-phase-b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S6 live evidence: https://github.com/Vastargazing/Cr3dX/blob/main/docs/STATUS_EN.md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https://github.com/Vastargazing/Cr3dX/blob/main/docs/S6_WORKER_TEST_MATRIX.md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https://github.com/Vastargazing/Cr3dX/blob/main/docs/PRECOMPILE_FINDINGS.md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Creditcoin Team response provenance is recorded in those documents; response was preliminary, not a final protocol guarantee.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Roadmap decisions: repository docs/S6_WORKER_SPEC.md and 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Outbound capability status is time-bound and presented as an unlock condition, not a protocol guarantee.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Measured S6 evidence: https://github.com/Vastargazing/Cr3dX/blob/main/docs/STATUS_EN.md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S6 operator procedure: https://github.com/Vastargazing/Cr3dX/blob/main/docs/S6_WORKER_RUNBOOK.md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Repository history: https://github.com/Vastargazing/Cr3dX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Initial commit efb34c7669dd0ba31dfce0d23ce4e52903bf0c0a, 2026-08-18T20:31:06+03:00.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1ffe78837c434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971A2BA-E585-4C5F-9D2F-858E0AA92B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02920"/>
            <a:ext cx="10972080" cy="686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1C6CCF4-B314-47C7-A171-EB92C3C741F6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3364920"/>
            <a:ext cx="10972080" cy="45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87a9a5a15d4bfc" /><Relationship Type="http://schemas.openxmlformats.org/officeDocument/2006/relationships/slideLayout" Target="/ppt/slideLayouts/slideLayout1.xml" Id="R67497f80914d4ba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11FBF1E-7B94-40F5-B234-C4BB7B8135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43960"/>
            <a:ext cx="10972080" cy="60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tabLst>
                <a:tab pos="0" algn="l"/>
              </a:tabLst>
              <a:def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rPr>
              <a:t>Click to edit the title text format</a:t>
            </a: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3DD324-B8E8-4D11-A9AE-DBCB20F6F680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497f80914d4ba5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fb29350254617" /><Relationship Type="http://schemas.openxmlformats.org/officeDocument/2006/relationships/hyperlink" Target="https://github.com/Vastargazing/Cr3dX" TargetMode="External" Id="R0478b1120a2448dd" /><Relationship Type="http://schemas.openxmlformats.org/officeDocument/2006/relationships/hyperlink" Target="https://vastargazing.github.io/Cr3dX/" TargetMode="External" Id="Rbb113e3cecb04702" /><Relationship Type="http://schemas.openxmlformats.org/officeDocument/2006/relationships/notesSlide" Target="/ppt/notesSlides/notesSlide1.xml" Id="R4111a7de20eb4d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e8c4e79c7405d" /><Relationship Type="http://schemas.openxmlformats.org/officeDocument/2006/relationships/notesSlide" Target="/ppt/notesSlides/notesSlide2.xml" Id="Rf9d5c0ce44cd40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0eb7dfec94b94" /><Relationship Type="http://schemas.openxmlformats.org/officeDocument/2006/relationships/notesSlide" Target="/ppt/notesSlides/notesSlide3.xml" Id="R3e19e3e3266043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668ec044c4d4c" /><Relationship Type="http://schemas.openxmlformats.org/officeDocument/2006/relationships/hyperlink" Target="https://github.com/Vastargazing/Cr3dX/blob/main/docs/STATUS_EN.md" TargetMode="External" Id="R0d5ec8c70b0f4b9b" /><Relationship Type="http://schemas.openxmlformats.org/officeDocument/2006/relationships/hyperlink" Target="https://creditcoin-testnet.blockscout.com/tx/0xa626556e0798a67d77b484896d10e662763d041c2e9ead2d0c4ad112f2955657" TargetMode="External" Id="R1fb809a102f341f9" /><Relationship Type="http://schemas.openxmlformats.org/officeDocument/2006/relationships/hyperlink" Target="https://creditcoin-testnet.blockscout.com/tx/0xc740cf0ee69401817c32a310f6e2781ab63d125f7fc2bd299338cfe5fdc822ad" TargetMode="External" Id="R4d7e43b2c1a54e8e" /><Relationship Type="http://schemas.openxmlformats.org/officeDocument/2006/relationships/hyperlink" Target="https://creditcoin-testnet.blockscout.com/tx/0xa0c24a107398af5c99cc8cfaab0ea50f4542caff45c34bc8f539afbfa55b13b6" TargetMode="External" Id="R1acadc2743294224" /><Relationship Type="http://schemas.openxmlformats.org/officeDocument/2006/relationships/hyperlink" Target="https://creditcoin-testnet.blockscout.com/tx/0x8d859033ecaec13d7ebb188f8673673af0d13b989202997d613bee38f78840c2" TargetMode="External" Id="Rf4cdc9222ee54d8b" /><Relationship Type="http://schemas.openxmlformats.org/officeDocument/2006/relationships/notesSlide" Target="/ppt/notesSlides/notesSlide4.xml" Id="R97768998399547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5ecda1be74778" /><Relationship Type="http://schemas.openxmlformats.org/officeDocument/2006/relationships/notesSlide" Target="/ppt/notesSlides/notesSlide5.xml" Id="R50ef28b6f94f43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c53c6712c426a" /><Relationship Type="http://schemas.openxmlformats.org/officeDocument/2006/relationships/hyperlink" Target="https://github.com/Vastargazing/Cr3dX/tree/main/docs/verification/v0.4.8-phase-b" TargetMode="External" Id="R573d55518fa44920" /><Relationship Type="http://schemas.openxmlformats.org/officeDocument/2006/relationships/notesSlide" Target="/ppt/notesSlides/notesSlide6.xml" Id="R42dc39c80d784b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496c00c92421d" /><Relationship Type="http://schemas.openxmlformats.org/officeDocument/2006/relationships/hyperlink" Target="https://github.com/Vastargazing/Cr3dX/blob/main/docs/S6_WORKER_TEST_MATRIX.md" TargetMode="External" Id="Rd6da856e1f9e4f32" /><Relationship Type="http://schemas.openxmlformats.org/officeDocument/2006/relationships/notesSlide" Target="/ppt/notesSlides/notesSlide7.xml" Id="R93a4cfdfafa146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bc995d3544d13" /><Relationship Type="http://schemas.openxmlformats.org/officeDocument/2006/relationships/hyperlink" Target="https://github.com/Vastargazing/Cr3dX/blob/main/docs/PRECOMPILE_FINDINGS.md" TargetMode="External" Id="R008692ed749d4a85" /><Relationship Type="http://schemas.openxmlformats.org/officeDocument/2006/relationships/hyperlink" Target="https://github.com/Vastargazing/Cr3dX/blob/main/docs/ATTESTCOIN_INTEGRATION.md" TargetMode="External" Id="Rc3371b947de14928" /><Relationship Type="http://schemas.openxmlformats.org/officeDocument/2006/relationships/notesSlide" Target="/ppt/notesSlides/notesSlide8.xml" Id="R83fb3cf8ba5649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facca970141ae" /><Relationship Type="http://schemas.openxmlformats.org/officeDocument/2006/relationships/notesSlide" Target="/ppt/notesSlides/notesSlide9.xml" Id="Rdb53fc51b0484d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4b86fb3e9422c" /><Relationship Type="http://schemas.openxmlformats.org/officeDocument/2006/relationships/hyperlink" Target="https://vastargazing.github.io/Cr3dX/" TargetMode="External" Id="R651bae81764a4f23" /><Relationship Type="http://schemas.openxmlformats.org/officeDocument/2006/relationships/hyperlink" Target="https://github.com/Vastargazing/Cr3dX" TargetMode="External" Id="Rf60d481bf79d48e5" /><Relationship Type="http://schemas.openxmlformats.org/officeDocument/2006/relationships/hyperlink" Target="https://github.com/Vastargazing/Cr3dX/tree/main/docs/verification/v0.4.8-phase-b" TargetMode="External" Id="R79b87ce370594a16" /><Relationship Type="http://schemas.openxmlformats.org/officeDocument/2006/relationships/hyperlink" Target="https://github.com/Vastargazing/Cr3dX/blob/main/docs/S5_LIVE_RUNBOOK.md" TargetMode="External" Id="R9237434f52b14aaa" /><Relationship Type="http://schemas.openxmlformats.org/officeDocument/2006/relationships/hyperlink" Target="https://github.com/Vastargazing/Cr3dX/blob/main/docs/S6_WORKER_RUNBOOK.md" TargetMode="External" Id="R9922704af3ca4538" /><Relationship Type="http://schemas.openxmlformats.org/officeDocument/2006/relationships/notesSlide" Target="/ppt/notesSlides/notesSlide10.xml" Id="Rfd3255af96e448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9B4484-53D6-498D-8E43-5EE2D911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56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2240" rIns="90000" bIns="122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7A427B-D31F-41B0-8316-AFC9FA09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120" y="1066680"/>
            <a:ext cx="906120" cy="90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FF6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903AB-DD38-4A19-B5A9-9B41D7A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2560" y="964800"/>
            <a:ext cx="906120" cy="90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FF6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983D13-7FAD-4136-9B58-AEA65F87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6720" y="1547280"/>
            <a:ext cx="226080" cy="226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49956-D1C9-4687-BE00-136FE5F0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52600"/>
            <a:ext cx="619056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RWA · BUIDL CTC 2026 FALL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2E6F6-2B23-46B1-B492-87476D5C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1285920"/>
            <a:ext cx="6857280" cy="10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CR3DX</a:t>
            </a:r>
            <a:endParaRPr sz="7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E69458-129F-4AFF-ADB0-114332CC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2495520"/>
            <a:ext cx="7238160" cy="11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Credit history that follows</a:t>
            </a:r>
            <a:endParaRPr sz="32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borrower across chains</a:t>
            </a:r>
            <a:endParaRPr sz="32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695007-9660-445C-8D09-334CB7EB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440"/>
            <a:ext cx="7524000" cy="74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Money moves on Ethereum. Credit state lives on Creditcoin.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Attestcoin is the only connection, and anyone can submit the proof.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FA3A4-5BDB-4C14-B9EA-C1D14540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105520"/>
            <a:ext cx="108388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262355-74F5-4BDD-A973-66E3093B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353200"/>
            <a:ext cx="152316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SOLO BUILDER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3CCB8D-C4E3-40E5-9CD6-2C04D987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581800"/>
            <a:ext cx="247572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Valery Borovsky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3CFC37-A819-4D46-900E-9E6AB7E4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60" y="5524560"/>
            <a:ext cx="483804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478b1120a2448dd"/>
              </a:rPr>
              <a:t>Repository »</a:t>
            </a:r>
            <a:r>
              <a:rPr sz="13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35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bb113e3cecb04702"/>
              </a:rPr>
              <a:t>Live dashboard »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4EDF8-0AD5-4BA7-9506-68AF1B31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6238800"/>
            <a:ext cx="10838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Created during the hackathon · repository history begins 18 Aug 2026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58276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820CB7-6449-4098-9BC2-3488CD34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645C00-3BD6-4FB2-9136-3C1C37D6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PROBLEM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A87EB4-FC73-4485-9F7F-1319D1C8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02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7F759D-E0F3-41F2-AF56-B10550EF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848560-7E81-4323-8EF7-1E7D9D95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history stops at the chain boundary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65B09F-FE58-4994-96B0-80382FB2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43120"/>
            <a:ext cx="6190560" cy="10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borrower can repay reliably on one chain and still arrive on the next with no portable record.</a:t>
            </a:r>
            <a:endParaRPr sz="24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110B36-22A8-45A9-A358-F90D8804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143160"/>
            <a:ext cx="5904720" cy="11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history exists.</a:t>
            </a:r>
            <a:endParaRPr sz="20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It just cannot be proven where the next lender needs it.</a:t>
            </a:r>
            <a:endParaRPr sz="20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3AFDCE-08E0-4868-9427-3E9D91D3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60" y="1809720"/>
            <a:ext cx="8640" cy="333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021AA2-F3E3-436E-B002-B6FF4038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1809720"/>
            <a:ext cx="31424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SOURCE CHAIN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B36086-EF4B-46E3-AB04-7F7A4607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2190600"/>
            <a:ext cx="3237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27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RECORD</a:t>
            </a:r>
            <a:endParaRPr sz="427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80AB96-CA8A-4F06-94AC-B8CC3989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2933640"/>
            <a:ext cx="31424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of on-time repayments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7D6DA7-B0CB-4DEE-BA41-DB6C42EE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3714840"/>
            <a:ext cx="31424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NEXT CHAIN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40D821-559D-4100-808E-FD5E1BB2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3981600"/>
            <a:ext cx="3237840" cy="875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55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?</a:t>
            </a:r>
            <a:endParaRPr sz="55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34DE16-4401-4A68-A6E1-12AC985F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4800600"/>
            <a:ext cx="31424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no verifiable history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61DD34-A31E-4340-A538-0D254E18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95920"/>
            <a:ext cx="10667160" cy="53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This matters in cross-border invoice financing, where payer, borrower and lender often use different rails.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8579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E03654-410B-4604-912A-F29C0116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6D79A4-239D-4E33-84A6-904689E7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ARCHITECTURE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176D82-5D1D-4D3D-88D6-DA04AB15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03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756CEB-2A25-4052-B522-89C2E3E4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2938BE-0EE8-4C8B-976C-DF54CCCF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Settlement stays with the money. Credit state stays with the history.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38B9CA-7417-4E09-AAB0-111DF7EB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2952000" cy="257112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22251C-0449-4652-BA1F-D78DA137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29520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2B2226-A79D-4484-84A8-B0319119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2324160"/>
            <a:ext cx="249480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ETHEREUM SEPOLIA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71D8DD8-8C7C-4A44-BFC8-496F1854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2819520"/>
            <a:ext cx="2494800" cy="138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and repayment move directly between parties through a fixed Gateway. No bridge. No wrapped asset. No custody.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5441F9-9CD4-490F-91A7-A04D057B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2952000" cy="257112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439EEF-B4D6-4E54-8F5F-B80E51BB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29520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F4D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E97743B-7A41-4687-852B-C2C01CE4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640" y="2324160"/>
            <a:ext cx="249480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ATTESTCOIN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715913-D0E2-4CE0-9B24-272C672C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640" y="2819520"/>
            <a:ext cx="2494800" cy="138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Proves source inclusion, successful execution and the authentic configured Gateway event.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E86412-2269-480D-A896-C8920C21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523680" cy="257112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02AF462-8DCD-4C0E-8FA9-2897CC55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52368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FF1FA7C-182C-45EC-86B8-3FF44C0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920" y="2324160"/>
            <a:ext cx="30664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CREDITCOIN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5727B2-B32E-43A5-B089-E1ABD922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920" y="2819520"/>
            <a:ext cx="3066480" cy="138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Stores the canonical credit result: deal status, score, limit, exposure and reserve.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2067CB3-0A5E-46AC-81AB-2AAFDE35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60" y="2857680"/>
            <a:ext cx="43740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→</a:t>
            </a:r>
            <a:endParaRPr sz="28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0CDC45-28BE-4AFB-B1E0-2FC095BD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400" y="2857680"/>
            <a:ext cx="43740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→</a:t>
            </a:r>
            <a:endParaRPr sz="28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514B120-5C9F-4D5C-A93D-26039372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81480"/>
            <a:ext cx="11010240" cy="58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Without Attestcoin, Cr3dX cannot verify source funding or repayment facts or evaluate source-chain deadlines.</a:t>
            </a:r>
            <a:endParaRPr sz="1729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3D689D-9FC9-41C5-B02A-63BA2E11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962680"/>
            <a:ext cx="110102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proof is the boundary. The credit state is the result.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6201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930BF4-F0FC-4439-ADF2-7718242F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4997153-F62C-4ED6-A35F-47D0AB99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LIVE ACCEPTANCE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5FBAAB1-5AA1-4735-9CDD-A39AB6F7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04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43A2ABA-2522-42C4-B211-61CFE36B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B2B2C2C-6A46-4055-87F8-374EE37E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repayment arrived first; the system still closed correctly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2E54AC6-3BCC-4AFC-B4EB-49A5EF1D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62200"/>
            <a:ext cx="5190480" cy="314244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31B5746-82F8-403D-88CE-CAFB9D3A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2048040"/>
            <a:ext cx="24757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CANONICAL OUTCOME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B284427-728F-4BC6-A5C6-96BD3C3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80" y="2400480"/>
            <a:ext cx="4475880" cy="62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82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PAID_ON_TIME</a:t>
            </a:r>
            <a:endParaRPr sz="3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4F2B41-9FFD-49DC-93AC-33E8C898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3276720"/>
            <a:ext cx="4380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proof  →  VERIFIED_PENDING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1A6056F-2433-4807-8B08-33CA827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3666960"/>
            <a:ext cx="4380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proof  →  APPLIED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A6C069F-845B-4136-952B-4361670E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4057560"/>
            <a:ext cx="4380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Targeted </a:t>
            </a:r>
            <a:r>
              <a:rPr sz="15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applyEvidence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call  →  APPLIED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C73260D-AFDC-443B-B2B9-3CE5E19E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880" y="1762200"/>
            <a:ext cx="8640" cy="314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1E2D36-09F4-4189-8C2F-0B2B3032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600" y="1924200"/>
            <a:ext cx="66600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500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8DC1907-35AC-4480-82D0-DDEFEF7A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280" y="1828800"/>
            <a:ext cx="2851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9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→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28036AF-4DE1-44EE-BA56-E65B6FD8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60" y="1924200"/>
            <a:ext cx="76140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525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D797B4F-5DE3-42A7-92C0-3057D524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2486160"/>
            <a:ext cx="2094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credit score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59287D2-EFEB-41FA-A596-3AB019F4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680" y="1924200"/>
            <a:ext cx="9043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5,000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0A13AFC-B8FC-4807-B183-6ABD59EF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600" y="1828800"/>
            <a:ext cx="2851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9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→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2DAA96B-0663-4E83-8D18-E5FEC6E6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80" y="1924200"/>
            <a:ext cx="9043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5,250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CD9689-0D73-4CCF-9130-9FE29D35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2486160"/>
            <a:ext cx="25520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credit limit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35A037B-CB55-47AF-B284-05A4E70F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3105000"/>
            <a:ext cx="2094840" cy="6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1.000001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3A112F0-8CEF-4DFF-B9A7-866B4551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3686040"/>
            <a:ext cx="209484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funded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84EBB20-51F8-44FB-94BB-6EFC22B8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3105000"/>
            <a:ext cx="2189880" cy="6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1.1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5E8E17C-F509-4BD8-9113-768D8238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3686040"/>
            <a:ext cx="218988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repaid on time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7924BD0-877B-4EFB-9726-9A3ACEA8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4257720"/>
            <a:ext cx="2094840" cy="6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0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AB02CCB-983A-45DD-AD2C-8D2E5E12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4838760"/>
            <a:ext cx="209484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exposure / outstanding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8538626-8A9E-471A-922F-31A7D881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219640"/>
            <a:ext cx="110102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Small testnet amounts by design; the limit demonstrates model behavior, not deal size.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F0A2575-6F3B-4B24-AEF6-9F4713C0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19600"/>
            <a:ext cx="11010240" cy="342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Accepted snapshot: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d5ec8c70b0f4b9b"/>
              </a:rPr>
              <a:t>f359c54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dashboard separately re-reads current state from public RPC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6FDFE1E-445A-4FD7-BBB4-38862DE6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REPAYMENT PROOF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5244933-FCDF-424C-AC1D-72F07FDE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1fb809a102f341f9"/>
              </a:rPr>
              <a:t>a626556e…55657 »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D15D0B8-D447-40C7-997D-32B8A9A6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88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FUNDING PROOF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14814E7-B9F0-406E-ADC7-47ADC66E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88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4d7e43b2c1a54e8e"/>
              </a:rPr>
              <a:t>c740cf0e…822ad »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1190262-A994-4B10-9612-5E35FE84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00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REPAYMENT APPLY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BFF410A-6225-4D96-8448-1BBE69EA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00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1acadc2743294224"/>
              </a:rPr>
              <a:t>a0c24a10…b13b6 »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8F84816-3FCA-4198-BA74-032F8449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12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EXTERNAL RACE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DD93FB3-276B-4750-9A43-1D799FC2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12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f4cdc9222ee54d8b"/>
              </a:rPr>
              <a:t>8d859033…840c2 »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25617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75F2B79-C7A5-4D9E-906A-F42FF913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AD5FAB9-EE6C-473A-B7D1-68E89841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TRUST BOUNDARY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16B5129-BEE9-4D6D-8212-3F30C7F4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05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1802EE8-2427-4856-B278-9A51A93E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0D5FB3C-17C1-4E77-BCAA-AD7CBDDA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We say exactly what the proof establishes, and what it does not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38AA23C-C857-494D-8899-8480AE0C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62200"/>
            <a:ext cx="53618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PROVEN CRYPTOGRAPHICALLY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723EF73-9F90-4C1C-AD8F-B8F1A939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85840"/>
            <a:ext cx="53618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E2804AC-623C-4249-A52E-00E8AC2B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33352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6D7C71A-0ACA-4E2E-9CB6-509E2623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231444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transaction inclusion, successful receipt and authentic Gateway event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79FF1F1-B784-444C-B46A-2978707E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00996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0C24BA5-648E-4019-AE29-804ACAF6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299088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transaction inclusion, successful receipt and authentic Gateway event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42E6D52-2A86-4B02-9BEE-A2B4422C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68604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929311E-8B88-4FE2-AE45-E60C3D1E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366696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Deadline evaluation against attested source-chain height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1E05F30-DB66-459C-B10E-73307EE1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36248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60927AC-0A6C-4183-A8B2-75B469A9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434340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Credit outcome derived from those facts and contract rules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108CE0A-6AEC-4B44-BE82-1025FAD7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1762200"/>
            <a:ext cx="53618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NOT PROVEN, AND NOT CLAIMED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734AC51-D1AC-41A5-8E4B-F2FDFBCE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2085840"/>
            <a:ext cx="53618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921BBD7-D058-46BE-ADFD-6677F6BD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233352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0B9E9D6-704E-4B05-AC7B-2FAEF78B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231444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That a real invoice exists or the claim is legally enforceable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36C54EC-30EF-4820-8379-469AEA4C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300996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5D91795-7872-4EAE-BE92-E59B29D1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299088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borrower's real-world identity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01EB4EC-2D6B-490F-811E-69F8AD14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368604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8609589-B1F0-4897-8E17-3037521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366696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Sybil resistance: the score is address-level repayment reputation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39E7E1C-8D63-4962-8524-A0CC80A6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436248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577F4F4-FE99-4A31-B2B7-BA010168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434340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Collateral, escrow or collection enforcement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F170901-6E19-43D5-BB11-3B537444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219640"/>
            <a:ext cx="11010240" cy="87552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B02B9BF-162D-4DB7-A407-BDE21EA2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429160"/>
            <a:ext cx="161856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TOKENS MOVED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3B3991B-E93B-4C59-83A1-B7EBFF11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920" y="5353200"/>
            <a:ext cx="880992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This follows from the Gateway contract itself: it emits only after a successful transfer. The contract is small, public and has no privileged functions.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98382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326BB17-9EB5-4544-88BE-E43640CC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77889F3-D5B7-4751-8C77-3D5073FF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INDEPENDENT VERIFICATION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D904F3A-7031-44A1-BB58-38C801D3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386D84D-DA06-42B2-A6D5-2E6A01EC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55AC34B3-602C-4253-AB03-7537E105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model and the implementation met only after expectations were sealed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1D027A9-9096-43BE-9281-490651CB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85880"/>
            <a:ext cx="3999960" cy="1180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6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63/63</a:t>
            </a:r>
            <a:endParaRPr sz="7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AF1DD9A-5E26-4EDC-8A41-2D67FEC3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400"/>
            <a:ext cx="371412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traces matched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zero semantic divergences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1849FFF-0118-4597-8E34-FE524294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840" y="1714680"/>
            <a:ext cx="8640" cy="321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0F0E944-423A-4BAB-B1CA-41D08448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169560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01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818A76A-7352-4DF7-A226-A74F0DF5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166680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Specification only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7157186-5658-49F2-90C9-5E57D1B8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168588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Isolated model workspace had no access to Deals or Credit code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FA51078-C003-4F38-A32B-AD997D54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2238480"/>
            <a:ext cx="62380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6E5A48E-0E67-479E-8B47-43066C3B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249552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02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55B6EBF-EC46-4C74-B8BD-D00DEFF2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46708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Expectations exported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786053A6-DA4A-4996-892F-15E2A0BF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248616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Trace corpus hashed before code access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6E1B2315-94FD-465D-862C-E9C2F4E9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038400"/>
            <a:ext cx="62380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DE0A65F-BEE4-42E0-8479-D72D21C8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29580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03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E8DE69D4-1853-4000-B66F-44BC34BE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326700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Implementation opened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8E46745-2972-436B-96C0-1D9E183B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328608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Foundry replayed the sealed oracle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D0E2482-3AE9-42B7-8316-A2988746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838680"/>
            <a:ext cx="62380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C876B23C-49A3-4F92-A92E-A04F41B7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409572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04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A00EDB5-B039-4354-84D7-DAAFA32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06728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Convergence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886FDEE-0EB7-44F7-8CD5-F37BD09F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408636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All 63 traces matched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6F750339-81F2-44FE-B169-2AC56526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91200"/>
            <a:ext cx="5190480" cy="74232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26312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59F7A37B-B036-425E-9EF4-4A3FA514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334120"/>
            <a:ext cx="238068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16 independently derived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13E1095-D915-4914-BDAE-92B731B9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629320"/>
            <a:ext cx="2380680" cy="18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strongest evidence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3D9A8D6-177C-4153-AD66-5D49E0B7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840" y="5191200"/>
            <a:ext cx="5600160" cy="74232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26312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65769D9-684B-4DEF-90D0-F551296D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440" y="5334120"/>
            <a:ext cx="2952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47 specification-prescribed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39F63BB-E8A0-42C6-ACFA-9D048770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440" y="5629320"/>
            <a:ext cx="3142440" cy="18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full coverage, but less independent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68BF6EF-BA05-491F-97F5-AA48CF27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19720"/>
            <a:ext cx="42854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573d55518fa44920"/>
              </a:rPr>
              <a:t>Open report and manifests »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4C533E95-140A-4077-9D0B-654A2F3A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160" y="6191280"/>
            <a:ext cx="7314480" cy="342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13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Not a formal proof of every reachable state. An independently built model and Solidity implementation agreed on the entire pre-sealed corpus.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96687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D5459A8-2128-4C07-B884-7B74CFCE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75C6C08-FCDD-42A5-BE1C-A801FE9B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PERMISSIONLESS WORKER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E35C3CE-019E-4B3B-8D10-9306BA23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07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1A46855-BE33-4159-A7F9-A4F84A24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7B08DE5-6DEA-4B84-90C9-FDADA38D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external race ended with zero worker signatures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FD53C459-593E-477C-B026-8947B5E9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00200"/>
            <a:ext cx="3332880" cy="19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0</a:t>
            </a:r>
            <a:endParaRPr sz="13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13AC856-C938-4C9D-BEA6-A45E4EE5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80" y="3333600"/>
            <a:ext cx="304740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worker signatures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76BEE26D-65B9-4EFD-AF6B-733C3EAC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80" y="3753000"/>
            <a:ext cx="342828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0 broadcasts · nonce unchanged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8FAA459-3E4A-4885-B20E-711066BD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60" y="1695600"/>
            <a:ext cx="8640" cy="3085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77319E99-2831-48F9-97B8-0AC75BBE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1752480"/>
            <a:ext cx="6095160" cy="41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second wallet submitted the proof first.</a:t>
            </a:r>
            <a:endParaRPr sz="21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03AD0421-7B31-49EA-9981-CDE641C5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2352600"/>
            <a:ext cx="6190560" cy="83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worker read the on-chain state, found the fact already recorded and closed the task without signing or broadcasting. The deal state remained correct.</a:t>
            </a:r>
            <a:endParaRPr sz="1729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BB6C78B-6246-4488-9309-98A532A6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3476520"/>
            <a:ext cx="6190560" cy="1075680"/>
          </a:xfrm>
          <a:prstGeom xmlns:a="http://schemas.openxmlformats.org/drawingml/2006/main" prst="roundRect">
            <a:avLst>
              <a:gd name="adj" fmla="val 10619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BAC377E-EA0A-430C-9D09-2544D278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3600360"/>
            <a:ext cx="2189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WHY THIS MATTERS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6547709-668B-4822-95F9-04FFB93C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3933720"/>
            <a:ext cx="5618880" cy="41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worker can deliver valid facts, but cannot forge one or force a transition the public contracts do not permit.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AB88541-A7FA-4101-A5E8-CE05254C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372280"/>
            <a:ext cx="11010240" cy="53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No worker-only contract method exists. A test-derived allowlist fails if a third state-changing worker method appears.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1107C7E-1D51-48C3-8CC5-08A55AF7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153120"/>
            <a:ext cx="3999960" cy="246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d6da856e1f9e4f32"/>
              </a:rPr>
              <a:t>Inspect the S6 coverage matrix »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24376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99033B64-AF1C-45F8-9FA1-B0AD47C1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2A735365-6CA4-4047-B592-F706235E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PROTOCOL FINDINGS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D9A7D84-AFD1-474A-BE72-732459EE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08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B99B99B-5237-4C82-9151-6D76C05C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6F6F099E-AA0C-49F6-9C45-30D9B333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Building on Attestcoin meant measuring its operational boundary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BBA4CF23-15C1-4A87-A1E1-5C9D8BD6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90640"/>
            <a:ext cx="309492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43C8993-41D0-40A1-8F95-5958087C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30949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GAS ACCOUNTING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A08009C7-CFB6-40E4-B4F2-8ABD5E24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505240"/>
            <a:ext cx="3094920" cy="186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verify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and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verifyAndEmit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used identical gas on identical inputs. The team indicated the event should technically be charged and builders may see a </a:t>
            </a:r>
            <a:r>
              <a:rPr sz="15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LOG3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-sized increase.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B7A712D-3F31-4D4F-9840-2A31910E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1790640"/>
            <a:ext cx="309492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F4D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D509DC74-B1A2-4118-9317-37DA02BA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30949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PROOF RETENTION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9332B517-7F93-4A7A-9777-77B04CDD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505240"/>
            <a:ext cx="3094920" cy="186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Ordinary-attestation proofs stop verifying after pruning. Under current runtime and archive-node policies, old facts remain re-provable; this is not claimed as immutable.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8B55DB1B-C825-4F3D-B34D-ECE52FFC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1790640"/>
            <a:ext cx="309492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B49018E9-4BB6-4544-8B3E-C41B6CD2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0949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ENCODED LEAF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ABF10E87-9E09-4681-B696-ED83BC70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505240"/>
            <a:ext cx="3094920" cy="186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proven leaf is Attestcoin-specific, not RLP. RPC wrapper fields outside canonical roots, including</a:t>
            </a:r>
            <a:r>
              <a:rPr sz="13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from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and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gasUsed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influence nothing in Cr3dX logic.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ECE092BD-06AE-4286-B3E2-D3A69606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781520"/>
            <a:ext cx="11010240" cy="91368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391A9F1-425E-4E07-BABC-21E60609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4781520"/>
            <a:ext cx="171396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WORKER POLICY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4232C70E-466D-4F32-BA11-BD2AFF8D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960" y="4781520"/>
            <a:ext cx="871452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Before each new signature, request a proof again. After signing, recover only by rebroadcasting the exact saved raw transaction.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25B91181-FDF4-4F9F-90BB-5094FBBA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114960"/>
            <a:ext cx="7238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08692ed749d4a85"/>
              </a:rPr>
              <a:t>Precompile findings »</a:t>
            </a: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c3371b947de14928"/>
              </a:rPr>
              <a:t>Attestcoin integration »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66620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95A96E58-7AA7-4C2D-B86C-A0F9F52C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DF36D59D-6E36-446F-832F-EA0EF384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ROADMAP · AS OF 20 AUG 2026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4617761-96DC-44D6-AEE7-04723227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09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5A44EA40-8651-4BDC-931F-EB411650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BBE9F87B-6C34-43FA-9669-E384A9A3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next steps have named conditions, not vague ambition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5843CD36-F16E-4712-AEB5-0998AF277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1714680"/>
            <a:ext cx="22280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DIRECTION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7FB69F8D-5621-4FE7-8252-8E20E997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1714680"/>
            <a:ext cx="230436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VALUE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C527B0FC-8237-451E-B61E-C5DA9B47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1714680"/>
            <a:ext cx="2837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WHY DEFERRED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F4F47BA7-C7BC-4D13-9B40-5B61BCF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14680"/>
            <a:ext cx="2685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UNLOCK CONDITION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A02B91E0-716D-4D96-8E7D-1840C367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00160"/>
            <a:ext cx="110102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4B283DED-2B47-42FE-8B79-30E4257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76480"/>
            <a:ext cx="11010240" cy="618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1A159035-3A03-45A5-97CE-3D66A9D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214308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Escrow + enforcement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B980EB37-C7AD-4222-8B19-7D716BE6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214308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Real recourse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D5F79572-C96C-4023-B14A-4CCFF3B5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14308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Needs a write back to source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1361ECD8-91C9-4128-B451-0455B6E0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4308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Outbound Attestcoin capability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0FD2F22A-C153-4CE4-B3BF-EF8108B7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283860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Safe reserve release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BF776E90-D989-461C-A196-D7779CF6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283860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Stops abandoned locks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A2E34F6F-FF44-4B57-AA3F-AF57E3ED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83860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Must block source funding first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DEF77EA0-AEE3-4516-974A-16EF3E41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3860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Same outbound capability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0550D92A-203F-4C1F-A0DE-F031F3D8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467160"/>
            <a:ext cx="11010240" cy="618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093F6E67-7A76-4F83-9D06-2E16003E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353376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Sybil resistance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3EFE002B-6BAA-49ED-8D45-5FC030FA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353376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Identity-level reputation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7E54C43D-B61F-4AED-BB35-F2FBBBC8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353376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Outside v0.1 trust boundary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42D02C72-A69D-4DC7-A4A2-1588A6C2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3376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Issuer identity verification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072F3230-A8E7-4ED7-8F4E-7563A423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422928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Worker batching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910891C4-625C-4237-903B-705A4DA6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422928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Lower per-fact gas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746FB8CB-A570-4991-B47E-3846721F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22928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Atomic-revert recovery cost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CA7BA010-4806-4BD7-B39D-B2A49F64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2928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Revisit at real volume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1C207B19-3165-4F4A-AE45-A8311B5B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857840"/>
            <a:ext cx="11010240" cy="618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27AF9E54-93E8-4081-A2CC-FB071FBA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492444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Parallel submission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2D8E3C2B-A698-43F6-97D7-472EB125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492444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Higher throughput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37952B2C-88D8-4D05-825F-C95C6884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92444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Reintroduces nonce-lane risk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F9B2DE4B-C13B-4DDF-A39B-1BB32F07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2444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Only under measured load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FF4C3463-1E20-494F-A1BA-303E977B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7684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90E92DBB-26EA-47D1-A45F-1C2DA51B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905440"/>
            <a:ext cx="11010240" cy="41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Any semantic change invalidates the sealed 63/63 result. Shipping it requires a new independent model freeze and complete replay.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71250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6C20AAE2-CBCC-46B4-AD51-ABC04C7E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3340AE76-CAA4-42AA-9DE3-FFEACA16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MEASURED + REPRODUCIBLE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E79CF077-7909-4349-94C5-4080FA7A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10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71312234-CA88-4C21-A7AF-C6BF5FE7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5B45F723-F29D-4891-A914-8A0DCDF5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Every headline number has a transaction, a timestamp or a manifest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FD299199-645B-4BDF-81B6-6406F108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19280"/>
            <a:ext cx="399996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MINED CREDITCOIN GAS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09890CD3-9917-41C7-8B5C-DDC17E01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32416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52CF450B-E1DE-4E7D-8EB1-C1DE6ED8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95264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7DC52F93-60CC-4DD0-8F7C-583681B5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195264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260,288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A60E5CA7-1030-4800-A642-2670F93A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197172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8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1499559D-D9D7-404E-987D-62BD6C81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81952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CCA52C6C-15DB-4E00-9177-7220A619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44800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723DF591-D6F1-4F32-B68E-98022C68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244800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340,382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884FA5E8-7744-40AA-B1F0-42F98804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246708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5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E8A1AFFB-F448-4A1D-A3AD-5CA36D0E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31488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C12AB736-CE90-4365-BEE4-62A0E485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94336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applyEvidence()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49C6F1CF-7324-49C9-8770-7022BC29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294336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292,348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DADDE1B5-4339-4AC9-A6E1-E18117ED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296244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submitted earlier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1C5D5C83-2782-4991-8161-65EDDD40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80988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89A2DDF0-C20E-44E8-91B4-D20B9713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43836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External race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AB9CE328-B037-4573-B03A-214A3D9F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343836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266,056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9C9DA20B-2771-4E6E-9917-E8189F66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345744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10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44FB81DB-9F51-40D9-80C7-99F6CEE7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1619280"/>
            <a:ext cx="540936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SOURCE → FIRST PROOF-READY OBSERVATION → MINED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C3B69EA6-9506-4233-90F4-B3BCD980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1952640"/>
            <a:ext cx="161856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Operation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F9F2BC1E-CC02-4EB3-9CAF-067FB5FD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40"/>
            <a:ext cx="123768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Proof-ready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A54578ED-298D-4E3A-AA7D-1BF28F0C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240" y="1952640"/>
            <a:ext cx="13802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Mined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93AC247F-7A5E-4687-9EB9-F9E8A238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629080"/>
            <a:ext cx="50475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07AAD98D-385A-4B41-A8D4-55312062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257560"/>
            <a:ext cx="16185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693986D4-608B-4363-A88E-E77E041B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225756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1,669.539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969CBFCF-55CD-4AD1-94F9-4319EA20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225756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1,734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5EA0BBB3-A639-4BCA-AF37-411902D5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181320"/>
            <a:ext cx="50475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EB33B416-8948-4D56-981C-92C586C8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809800"/>
            <a:ext cx="16185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995FFE50-0241-4291-BF7E-9A8F82B8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28098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665.107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68FA6AA8-C5F1-4691-A307-CA01F662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28098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720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FE0A2ABC-A0AA-4B53-9EED-EB6CBDC2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733920"/>
            <a:ext cx="50475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F5A9293F-9234-4A8F-B573-30C7B436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362400"/>
            <a:ext cx="16185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External race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03A0ED40-E9BA-4071-8CBF-7853857A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33624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588.271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E233BAC1-AF24-49B5-8133-1B825EE0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33624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651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1EFA393D-AC2C-4D3A-A526-004A5308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962520"/>
            <a:ext cx="504756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One testnet run, not an SLA. Exact attestation-transition timestamps were not recorded. Gas rows changed different states and proof shapes; they are evidence records, not a controlled comparison.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0ACE70EF-52B5-407E-BBAB-6A6BE59D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896000"/>
            <a:ext cx="110102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68A2FBC9-4A48-4A51-A2C9-3AF6A294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53040"/>
            <a:ext cx="14281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VERIFY IT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4B294B09-9BC4-4037-9535-5681E0B3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080" y="5105520"/>
            <a:ext cx="945756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651bae81764a4f23"/>
              </a:rPr>
              <a:t>Live dashboard »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f60d481bf79d48e5"/>
              </a:rPr>
              <a:t>Repository »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79b87ce370594a16"/>
              </a:rPr>
              <a:t>Phase B manifests »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Local: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forge test</a:t>
            </a:r>
            <a:r>
              <a:rPr sz="12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npm run test:worker</a:t>
            </a:r>
            <a:r>
              <a:rPr sz="12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npm run test:scripts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Live: </a:t>
            </a:r>
            <a:r>
              <a:rPr sz="1280" b="1" u="none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9237434f52b14aaa"/>
              </a:rPr>
              <a:t>S5 live runbook »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80" b="1" u="none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9922704af3ca4538"/>
              </a:rPr>
              <a:t>S6 worker runbook »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38E63D80-8684-4893-B1B8-CE577567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29440"/>
            <a:ext cx="11010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Deployed v0.4.8 · Gateway 0x11DD…a749 · Verifier 0xED64…093 · Deals 0x8f7B…3cC · Credit 0x4a66…5C8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47740"/>
      </p:ext>
    </p:extLst>
  </p:cSld>
</p:sld>
</file>

<file path=ppt/theme/theme1.xml><?xml version="1.0" encoding="utf-8"?>
<a:theme xmlns:a="http://schemas.openxmlformats.org/drawingml/2006/main" name="Cr3dX">
  <a:themeElements>
    <a:clrScheme name="Cr3dX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r3dX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/>
  <ap:PresentationFormat>Converted Presentation</ap:PresentationFormat>
  <ap:Slides>10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Valery Borovsky</dc:creator>
  <lastModifiedBy>Valery Borovsky</lastModifiedBy>
  <dc:title>Cr3dX: verified cross-chain credit</dc:title>
  <dcterms:created xsi:type="dcterms:W3CDTF">2026-08-24T07:18:21.8740000Z</dcterms:created>
  <dcterms:modified xsi:type="dcterms:W3CDTF">2026-08-24T07:18:21.8740000Z</dcterms:modified>
</coreProperties>
</file>