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79798765fb469c" /><Relationship Type="http://schemas.openxmlformats.org/officeDocument/2006/relationships/extended-properties" Target="/docProps/app.xml" Id="R760a5801433f4000" /><Relationship Type="http://schemas.openxmlformats.org/officeDocument/2006/relationships/officeDocument" Target="/ppt/presentation.xml" Id="R4b8ec503731243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79e0b2162445c2"/>
  </p:sldMasterIdLst>
  <p:notesMasterIdLst>
    <p:notesMasterId xmlns:r="http://schemas.openxmlformats.org/officeDocument/2006/relationships" r:id="R0c30ec9bc68c431e"/>
  </p:notesMasterIdLst>
  <p:sldIdLst>
    <p:sldId xmlns:r="http://schemas.openxmlformats.org/officeDocument/2006/relationships" id="256" r:id="R6ec8a6d682294cb6"/>
    <p:sldId xmlns:r="http://schemas.openxmlformats.org/officeDocument/2006/relationships" id="257" r:id="Rae7bf47ddf304b83"/>
    <p:sldId xmlns:r="http://schemas.openxmlformats.org/officeDocument/2006/relationships" id="258" r:id="R48df828233ef4034"/>
    <p:sldId xmlns:r="http://schemas.openxmlformats.org/officeDocument/2006/relationships" id="259" r:id="Rba9684c71aa64455"/>
    <p:sldId xmlns:r="http://schemas.openxmlformats.org/officeDocument/2006/relationships" id="260" r:id="R5e7ee396884e4ab9"/>
    <p:sldId xmlns:r="http://schemas.openxmlformats.org/officeDocument/2006/relationships" id="261" r:id="Rcb01ef3fe8b64f4e"/>
    <p:sldId xmlns:r="http://schemas.openxmlformats.org/officeDocument/2006/relationships" id="262" r:id="R414f38d5fbd84177"/>
    <p:sldId xmlns:r="http://schemas.openxmlformats.org/officeDocument/2006/relationships" id="263" r:id="Rc1d02bd747704c4d"/>
    <p:sldId xmlns:r="http://schemas.openxmlformats.org/officeDocument/2006/relationships" id="264" r:id="R607040cc09a545cb"/>
    <p:sldId xmlns:r="http://schemas.openxmlformats.org/officeDocument/2006/relationships" id="265" r:id="R0f92758f8f5541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609aa4bab548d7" /><Relationship Type="http://schemas.openxmlformats.org/officeDocument/2006/relationships/slideMaster" Target="/ppt/slideMasters/slideMaster1.xml" Id="R1079e0b2162445c2" /><Relationship Type="http://schemas.openxmlformats.org/officeDocument/2006/relationships/notesMaster" Target="/ppt/notesMasters/notesMaster1.xml" Id="R0c30ec9bc68c431e" /><Relationship Type="http://schemas.openxmlformats.org/officeDocument/2006/relationships/presProps" Target="/ppt/presProps.xml" Id="Ra46b71a6ab4f4f58" /><Relationship Type="http://schemas.openxmlformats.org/officeDocument/2006/relationships/tableStyles" Target="/ppt/tableStyles.xml" Id="R9bcb2236d1854a3d" /><Relationship Type="http://schemas.openxmlformats.org/officeDocument/2006/relationships/slide" Target="/ppt/slides/slide1.xml" Id="R6ec8a6d682294cb6" /><Relationship Type="http://schemas.openxmlformats.org/officeDocument/2006/relationships/slide" Target="/ppt/slides/slide2.xml" Id="Rae7bf47ddf304b83" /><Relationship Type="http://schemas.openxmlformats.org/officeDocument/2006/relationships/slide" Target="/ppt/slides/slide3.xml" Id="R48df828233ef4034" /><Relationship Type="http://schemas.openxmlformats.org/officeDocument/2006/relationships/slide" Target="/ppt/slides/slide4.xml" Id="Rba9684c71aa64455" /><Relationship Type="http://schemas.openxmlformats.org/officeDocument/2006/relationships/slide" Target="/ppt/slides/slide5.xml" Id="R5e7ee396884e4ab9" /><Relationship Type="http://schemas.openxmlformats.org/officeDocument/2006/relationships/slide" Target="/ppt/slides/slide6.xml" Id="Rcb01ef3fe8b64f4e" /><Relationship Type="http://schemas.openxmlformats.org/officeDocument/2006/relationships/slide" Target="/ppt/slides/slide7.xml" Id="R414f38d5fbd84177" /><Relationship Type="http://schemas.openxmlformats.org/officeDocument/2006/relationships/slide" Target="/ppt/slides/slide8.xml" Id="Rc1d02bd747704c4d" /><Relationship Type="http://schemas.openxmlformats.org/officeDocument/2006/relationships/slide" Target="/ppt/slides/slide9.xml" Id="R607040cc09a545cb" /><Relationship Type="http://schemas.openxmlformats.org/officeDocument/2006/relationships/slide" Target="/ppt/slides/slide10.xml" Id="R0f92758f8f5541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6b613955c444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759df96ddd4e9f" /><Relationship Type="http://schemas.openxmlformats.org/officeDocument/2006/relationships/notesMaster" Target="/ppt/notesMasters/notesMaster1.xml" Id="R01385fd310314a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098489850d40b6" /><Relationship Type="http://schemas.openxmlformats.org/officeDocument/2006/relationships/notesMaster" Target="/ppt/notesMasters/notesMaster1.xml" Id="R91c1c0bc91e34e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3a963247c944f9" /><Relationship Type="http://schemas.openxmlformats.org/officeDocument/2006/relationships/notesMaster" Target="/ppt/notesMasters/notesMaster1.xml" Id="R908da9e68c6544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c6a592f7294af7" /><Relationship Type="http://schemas.openxmlformats.org/officeDocument/2006/relationships/notesMaster" Target="/ppt/notesMasters/notesMaster1.xml" Id="Rb5128891aa5644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65b3ea514a46ca" /><Relationship Type="http://schemas.openxmlformats.org/officeDocument/2006/relationships/notesMaster" Target="/ppt/notesMasters/notesMaster1.xml" Id="R66f6f77024794b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5440cc31fa475c" /><Relationship Type="http://schemas.openxmlformats.org/officeDocument/2006/relationships/notesMaster" Target="/ppt/notesMasters/notesMaster1.xml" Id="Rc86db62d681645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19eeb509044693" /><Relationship Type="http://schemas.openxmlformats.org/officeDocument/2006/relationships/notesMaster" Target="/ppt/notesMasters/notesMaster1.xml" Id="Rfcd3507803a04b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7110b3d0c344fd" /><Relationship Type="http://schemas.openxmlformats.org/officeDocument/2006/relationships/notesMaster" Target="/ppt/notesMasters/notesMaster1.xml" Id="Re7c6fb88d2b44e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5ff4785f5d40ea" /><Relationship Type="http://schemas.openxmlformats.org/officeDocument/2006/relationships/notesMaster" Target="/ppt/notesMasters/notesMaster1.xml" Id="R09f0cca59ab541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822470138b4cc4" /><Relationship Type="http://schemas.openxmlformats.org/officeDocument/2006/relationships/notesMaster" Target="/ppt/notesMasters/notesMaster1.xml" Id="Rb86ffe384efc48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Official event and track naming: https://buidl.creditcoin.org/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Project framing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Architecture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Attestcoin integration details: repository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Accepted live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destination transactions are linked on-slide.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Trust boundary: repository README.md and docs/audit/attestcoin-integration-summary.md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No external smart-contract audit is claimed.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Phase B report and manifests: https://github.com/Vastargazing/Cr3dX/tree/main/docs/verification/v0.4.8-phase-b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live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https://github.com/Vastargazing/Cr3dX/blob/main/docs/S6_WORKER_TEST_MATRIX.md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https://github.com/Vastargazing/Cr3dX/blob/main/docs/PRECOMPILE_FINDINGS.md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Team response provenance is recorded in those documents; response was preliminary, not a final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Roadmap decisions: repository docs/S6_WORKER_SPEC.md and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Outbound capability status is time-bound and presented as an unlock condition, not a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Measured S6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operator procedure: https://github.com/Vastargazing/Cr3dX/blob/main/docs/S6_WORKER_RUNBOOK.md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 history: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Initial commit efb34c7669dd0ba31dfce0d23ce4e52903bf0c0a, 2026-08-18T20:31:06+03:00.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f31f4004f4e8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1226017-8C51-4D5D-878B-3E3BBD85A6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510F0F6-6DA3-4B70-A014-CB6158B15889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94c95db8ca4b50" /><Relationship Type="http://schemas.openxmlformats.org/officeDocument/2006/relationships/slideLayout" Target="/ppt/slideLayouts/slideLayout1.xml" Id="Rdbb4536b314a4af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809A119-9A4A-4FC1-8E23-053FBFBB8D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76F5D6-DD45-47DF-9A90-F1254488E094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b4536b314a4afc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172c1f9084439" /><Relationship Type="http://schemas.openxmlformats.org/officeDocument/2006/relationships/hyperlink" Target="https://github.com/Vastargazing/Cr3dX" TargetMode="External" Id="Rf8a87c442a154c5a" /><Relationship Type="http://schemas.openxmlformats.org/officeDocument/2006/relationships/hyperlink" Target="https://vastargazing.github.io/Cr3dX/" TargetMode="External" Id="Rc7dbafabbbec495c" /><Relationship Type="http://schemas.openxmlformats.org/officeDocument/2006/relationships/notesSlide" Target="/ppt/notesSlides/notesSlide1.xml" Id="Rb29b588bf39c46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eaa1a6daf4c24" /><Relationship Type="http://schemas.openxmlformats.org/officeDocument/2006/relationships/notesSlide" Target="/ppt/notesSlides/notesSlide2.xml" Id="R8c04e2ea3e1a46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7db96fd184bfc" /><Relationship Type="http://schemas.openxmlformats.org/officeDocument/2006/relationships/notesSlide" Target="/ppt/notesSlides/notesSlide3.xml" Id="Rad095227948c44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e03f16b564cd3" /><Relationship Type="http://schemas.openxmlformats.org/officeDocument/2006/relationships/hyperlink" Target="https://github.com/Vastargazing/Cr3dX/blob/main/docs/STATUS.md" TargetMode="External" Id="Rb252ca87dc9340a5" /><Relationship Type="http://schemas.openxmlformats.org/officeDocument/2006/relationships/hyperlink" Target="https://creditcoin-testnet.blockscout.com/tx/0xa626556e0798a67d77b484896d10e662763d041c2e9ead2d0c4ad112f2955657" TargetMode="External" Id="Raf9db0067cda4306" /><Relationship Type="http://schemas.openxmlformats.org/officeDocument/2006/relationships/hyperlink" Target="https://creditcoin-testnet.blockscout.com/tx/0xc740cf0ee69401817c32a310f6e2781ab63d125f7fc2bd299338cfe5fdc822ad" TargetMode="External" Id="R8b7c4c658eea475e" /><Relationship Type="http://schemas.openxmlformats.org/officeDocument/2006/relationships/hyperlink" Target="https://creditcoin-testnet.blockscout.com/tx/0xa0c24a107398af5c99cc8cfaab0ea50f4542caff45c34bc8f539afbfa55b13b6" TargetMode="External" Id="R384c45fed3144c40" /><Relationship Type="http://schemas.openxmlformats.org/officeDocument/2006/relationships/hyperlink" Target="https://creditcoin-testnet.blockscout.com/tx/0x8d859033ecaec13d7ebb188f8673673af0d13b989202997d613bee38f78840c2" TargetMode="External" Id="Rfbd8b26193b2469e" /><Relationship Type="http://schemas.openxmlformats.org/officeDocument/2006/relationships/notesSlide" Target="/ppt/notesSlides/notesSlide4.xml" Id="R64ecb8f336bf4a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a7e959d1b4c21" /><Relationship Type="http://schemas.openxmlformats.org/officeDocument/2006/relationships/notesSlide" Target="/ppt/notesSlides/notesSlide5.xml" Id="Re53480fb4cf949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b09ab86e94936" /><Relationship Type="http://schemas.openxmlformats.org/officeDocument/2006/relationships/hyperlink" Target="https://github.com/Vastargazing/Cr3dX/tree/main/docs/verification/v0.4.8-phase-b" TargetMode="External" Id="Rd4df2cd5d8c84960" /><Relationship Type="http://schemas.openxmlformats.org/officeDocument/2006/relationships/notesSlide" Target="/ppt/notesSlides/notesSlide6.xml" Id="R96e0f385b55a4e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5b543fce14bf5" /><Relationship Type="http://schemas.openxmlformats.org/officeDocument/2006/relationships/hyperlink" Target="https://github.com/Vastargazing/Cr3dX/blob/main/docs/S6_WORKER_TEST_MATRIX.md" TargetMode="External" Id="R0ee4f2f42203441a" /><Relationship Type="http://schemas.openxmlformats.org/officeDocument/2006/relationships/notesSlide" Target="/ppt/notesSlides/notesSlide7.xml" Id="R69c5b38f7d0f4a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6baeaaa784e83" /><Relationship Type="http://schemas.openxmlformats.org/officeDocument/2006/relationships/hyperlink" Target="https://github.com/Vastargazing/Cr3dX/blob/main/docs/PRECOMPILE_FINDINGS.md" TargetMode="External" Id="Reeba5084923c4dac" /><Relationship Type="http://schemas.openxmlformats.org/officeDocument/2006/relationships/hyperlink" Target="https://github.com/Vastargazing/Cr3dX/blob/main/docs/ATTESTCOIN_INTEGRATION.md" TargetMode="External" Id="Rb44188eae17640db" /><Relationship Type="http://schemas.openxmlformats.org/officeDocument/2006/relationships/notesSlide" Target="/ppt/notesSlides/notesSlide8.xml" Id="Rabdaf59c381a49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df0c21f784180" /><Relationship Type="http://schemas.openxmlformats.org/officeDocument/2006/relationships/notesSlide" Target="/ppt/notesSlides/notesSlide9.xml" Id="R710f1ec67b914c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e0342ae91478e" /><Relationship Type="http://schemas.openxmlformats.org/officeDocument/2006/relationships/hyperlink" Target="https://vastargazing.github.io/Cr3dX/" TargetMode="External" Id="R145f5ced60a34977" /><Relationship Type="http://schemas.openxmlformats.org/officeDocument/2006/relationships/hyperlink" Target="https://github.com/Vastargazing/Cr3dX" TargetMode="External" Id="R4797ba0d82fd4598" /><Relationship Type="http://schemas.openxmlformats.org/officeDocument/2006/relationships/hyperlink" Target="https://github.com/Vastargazing/Cr3dX/tree/main/docs/verification/v0.4.8-phase-b" TargetMode="External" Id="Rc4238f82fbd14132" /><Relationship Type="http://schemas.openxmlformats.org/officeDocument/2006/relationships/hyperlink" Target="https://github.com/Vastargazing/Cr3dX/blob/main/docs/S5_LIVE_RUNBOOK.md" TargetMode="External" Id="Rd23a712610ae44aa" /><Relationship Type="http://schemas.openxmlformats.org/officeDocument/2006/relationships/hyperlink" Target="https://github.com/Vastargazing/Cr3dX/blob/main/docs/S6_WORKER_RUNBOOK.md" TargetMode="External" Id="Rfb4a6a1301154cd5" /><Relationship Type="http://schemas.openxmlformats.org/officeDocument/2006/relationships/notesSlide" Target="/ppt/notesSlides/notesSlide10.xml" Id="R571f7de1233741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FC49B-851A-4805-B3BC-6554BF3B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56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B581C-2B12-476A-90D1-8305C059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120" y="1066680"/>
            <a:ext cx="906480" cy="90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C76E61-16C2-40C5-BC27-D5C20836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2560" y="964800"/>
            <a:ext cx="906480" cy="90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DCB74-2060-42EA-9103-E88F56E0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6720" y="1547280"/>
            <a:ext cx="226440" cy="226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459CD-677A-4858-933C-4C32A3EF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2600"/>
            <a:ext cx="619092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RWA · BUIDL CTC 2026 FALL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6118A2-FE72-4535-94C8-FDFF161E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1285920"/>
            <a:ext cx="6857640" cy="1066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CR3DX</a:t>
            </a:r>
            <a:endParaRPr sz="7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2A0B7-F329-49A5-B1C5-8421B080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2495520"/>
            <a:ext cx="7238520" cy="1123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history that follows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 across chains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E5675-5047-4E66-BD2E-E334F04B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440"/>
            <a:ext cx="7524360" cy="742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Money moves on Ethereum. Credit state lives on Creditcoin.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Attestcoin is the only connection, and anyone can submit the proof.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D01D5-5BBE-4496-8D58-5E7D7CF5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105520"/>
            <a:ext cx="1083924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9FB8A0-4E29-44AC-BF7B-1590F680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353200"/>
            <a:ext cx="15235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SOLO BUILDER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EEC140-C353-4552-833E-F2111C61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81800"/>
            <a:ext cx="2476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Valery Borovsky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3E5C98-F6F4-42F4-BA25-88684DA0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5524560"/>
            <a:ext cx="483840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8a87c442a154c5a"/>
              </a:rPr>
              <a:t>Repository ↗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c7dbafabbbec495c"/>
              </a:rPr>
              <a:t>Live dashboard ↗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3B624-3735-4723-9A14-93147066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6238800"/>
            <a:ext cx="108392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Created during the hackathon · repository history begins 18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77785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2BEFB5-A095-4FB0-A566-D04E2001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5D282E-21DA-4C0D-A0B3-F5E8D8A4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PROBLEM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84985A-5B10-46FC-B13C-06F75609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02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88F931-BADA-4DD1-801C-9FE83216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0BDA2C-2908-4B7F-B608-E7BD2858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history stops at the chain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F54818-5275-4798-8287-30005419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43120"/>
            <a:ext cx="6190920" cy="1066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borrower can repay reliably on one chain and still arrive on the next with no portable record.</a:t>
            </a:r>
            <a:endParaRPr sz="24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E6DAAA-4411-481D-8583-72BBC762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143160"/>
            <a:ext cx="5905080" cy="1123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history exists.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It just cannot be proven where the next lender needs it.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6D829E-6D06-480D-90D3-BF88E7DE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60" y="1809720"/>
            <a:ext cx="9000" cy="3333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F70873-0BBD-427B-BDB6-705980BC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1809720"/>
            <a:ext cx="31428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SOURCE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492367-F74C-47AA-8B93-066FE269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2190600"/>
            <a:ext cx="323820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27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RECORD</a:t>
            </a:r>
            <a:endParaRPr sz="427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1E7D5D-23BB-46A2-A07B-DE9E56CA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2933640"/>
            <a:ext cx="31428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of on-time repayments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76EB3F-99FF-4CD3-8B54-5DCDF8CB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3714840"/>
            <a:ext cx="31428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NEXT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BF9DF5-1380-4AA2-8D96-99631F4B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3981600"/>
            <a:ext cx="3238200" cy="87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55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?</a:t>
            </a:r>
            <a:endParaRPr sz="5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3481D4-A976-4DD7-AA48-CE058C9B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800600"/>
            <a:ext cx="31428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verifiable history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599B27-D753-4EBE-A087-77640AA1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95920"/>
            <a:ext cx="10667520" cy="53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This matters in cross-border invoice financing, where payer, borrower and lender often use different rails.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62073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EC104B-A845-4A7A-AB45-EBD7481F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628082-7499-4312-83C1-AA823059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ARCHITECTURE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A7AA4F-4110-41FC-80EF-5CDF897E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03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73A87C-7830-462B-9BFD-BA32592E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135193-F476-4986-9C6E-6D341C23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Settlement stays with the money. Credit state stays with the history.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D7E939-CAAC-47AF-A845-9D3AD2CE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360" cy="25714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01CD4E-011C-480B-9E7C-8103973F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3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0D18F5-AEEC-48CD-80AD-4C8DFDC6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324160"/>
            <a:ext cx="2495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ETHEREUM SEPOLIA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F66F70-4F1B-4D30-BB1F-1B1F8FAD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819520"/>
            <a:ext cx="2495160" cy="138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and repayment move directly between parties through a fixed Gateway. No bridge. No wrapped asset. No custody.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74D7E4-26FF-42EA-80BC-C7847C51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360" cy="25714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1822BD1-63C6-45A7-BF0E-4CC44535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3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C5895D9-B75C-449F-B71E-DA22B744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324160"/>
            <a:ext cx="2495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ATTESTCOIN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7819A43-A4B1-4FAA-A6F5-229B47C9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819520"/>
            <a:ext cx="2495160" cy="138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Proves source inclusion, successful execution and the authentic configured Gateway event.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270BED-6AD6-4CB8-8971-411731A4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4040" cy="25714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CBE721-48D4-4C89-8C81-13811821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404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D79CC9-AD71-4FCD-A88D-270DC56E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324160"/>
            <a:ext cx="3066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CREDITCOIN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36FA9B-EF75-46F8-9D86-1563419F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819520"/>
            <a:ext cx="3066840" cy="138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Stores the canonical credit result: deal status, score, limit, exposure and reserve.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E98FEE6-57F6-4779-9FB5-A64E6EF0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60" y="2857680"/>
            <a:ext cx="43776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371867-AC48-44A0-8942-D675C00B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400" y="2857680"/>
            <a:ext cx="43776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725892D-CCD5-4D91-8C69-CC5FE2F7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81480"/>
            <a:ext cx="11010600" cy="59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Without Attestcoin, Cr3dX cannot verify source funding or repayment facts or evaluate source-chain deadlines.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B7B0D81-9BD0-45B6-8A46-27416EF5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62680"/>
            <a:ext cx="110106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proof is the boundary. The credit state is the result.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53695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EFAA409-F014-4D78-934B-0E48BBEC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BDAC37-C00A-43B3-A2EC-27ABF5B5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LIVE ACCEPTANCE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73B624-932D-48CD-99A5-30EA62F1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04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CC0CB0-1307-4784-A23E-3E9C08CA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547724-23A8-4B55-B1AE-4D9936C4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repayment arrived first; the system still closed correctly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B68E78-5FA5-49C9-9F14-CC642F93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190840" cy="31428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91DE6E-005D-4012-BB65-E60E5F6B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2048040"/>
            <a:ext cx="2476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CANONICAL OUTCOME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9C0728D-C19C-47BB-93FA-EEEC8009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80" y="2400480"/>
            <a:ext cx="4476240" cy="62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82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PAID_ON_TIME</a:t>
            </a:r>
            <a:endParaRPr sz="3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8BB96E9-18D6-46EE-87AB-99DF6F35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276720"/>
            <a:ext cx="43812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proof  →  VERIFIED_PENDING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D7AB8A6-F4EA-4F05-850C-0E9033FA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666960"/>
            <a:ext cx="43812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proof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535B275-59F7-46B7-84E7-23944EE8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4057560"/>
            <a:ext cx="43812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Targeted applyEvidence call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9A98E58-3AE8-4634-BF11-4305A46B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80" y="1762200"/>
            <a:ext cx="9000" cy="314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B6F7AD3-28B3-4972-9726-8E4A3FA9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600" y="1924200"/>
            <a:ext cx="66636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70E64F7-DBAD-46D3-99D4-7A2DCF09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200" y="1924200"/>
            <a:ext cx="28548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357AA6-C1B3-4067-AD38-FC174E40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60" y="1924200"/>
            <a:ext cx="76176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525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0F4427-0FC8-420B-873A-9DF5981A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2486160"/>
            <a:ext cx="20952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score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62A8135-D66F-498D-863B-6535A3A8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680" y="1924200"/>
            <a:ext cx="90468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5,000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2AB0F3D-A362-4476-8355-EC02C0F9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600" y="1924200"/>
            <a:ext cx="28548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B5BED3E-9AA2-4B97-BC83-09067A4D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80" y="1924200"/>
            <a:ext cx="90468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5,250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9EAE42A-B9E7-4042-B44A-2A100D28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2486160"/>
            <a:ext cx="25524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limit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548F900-750F-440E-8EB1-4112B5B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105000"/>
            <a:ext cx="20952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1.000001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88A95D3-0238-4A18-AB17-61908CD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686040"/>
            <a:ext cx="209520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funded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99ABA97-8905-483B-AD19-2F401EB9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105000"/>
            <a:ext cx="219024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AB14F2C-E50D-4620-B377-AB01AEF6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686040"/>
            <a:ext cx="219024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repaid on time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CF4C34F-EE62-40ED-BCF1-57D35527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257720"/>
            <a:ext cx="20952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0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EF07840-46E0-4AAE-AED2-E8D11C71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838760"/>
            <a:ext cx="209520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exposure / outstanding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EFAF0BB-5268-4E50-9D78-D11A345B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6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Small testnet amounts by design; the limit demonstrates model behavior, not deal size.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948EE03-018D-47B1-9A68-9D7D272A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19600"/>
            <a:ext cx="1101060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Accepted snapshot: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b252ca87dc9340a5"/>
              </a:rPr>
              <a:t>f359c54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dashboard separately re-reads current state from public RPC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FC760EB-B7E7-4169-8CAF-48501F1B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067440"/>
            <a:ext cx="2476080" cy="16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945E749-C91C-4230-92A0-0FDA546D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48520"/>
            <a:ext cx="2476080" cy="218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af9db0067cda4306"/>
              </a:rPr>
              <a:t>a626556e…55657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4B3CC91-58A4-434D-A393-5BB71041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067440"/>
            <a:ext cx="2476080" cy="16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FUNDING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A2DB3C8-6727-4DBE-8F87-1FF2963E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248520"/>
            <a:ext cx="2476080" cy="218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8b7c4c658eea475e"/>
              </a:rPr>
              <a:t>c740cf0e…822ad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F0BDD2B-40A3-4B33-BB23-B9E16668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067440"/>
            <a:ext cx="2476080" cy="16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APPLY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9B8AE35-CC8F-4269-8E2D-9CE1AF33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248520"/>
            <a:ext cx="2476080" cy="218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384c45fed3144c40"/>
              </a:rPr>
              <a:t>a0c24a10…b13b6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84F0372-B1B7-497D-A493-F571FFC9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067440"/>
            <a:ext cx="2476080" cy="16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EXTERNAL RACE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12B38B2-1B8A-4789-A406-97A0ACBA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248520"/>
            <a:ext cx="2476080" cy="218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bd8b26193b2469e"/>
              </a:rPr>
              <a:t>8d859033…840c2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87879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58D8296-64CA-4230-8010-B6470632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576471A-4CB5-4042-8C1D-96044CDB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TRUST BOUNDARY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8DB2318-CDB8-4EC5-9DD9-44605D90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05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F385C91-6F06-41E4-9548-E9BD32D9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39B0B9A-79A8-4F6A-9FB8-06C315C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We say exactly what the proof establishes, and what it does not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E14EFC7-08CA-4606-9E8D-DB9A0E54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362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PROVEN CRYPTOGRAPHICALLY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EFD9A98-E10E-48DD-874B-8F4254E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85840"/>
            <a:ext cx="5362200" cy="1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7410C39-0170-47F6-BEAD-5B7BFFAC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3352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65F468B-3388-4F04-BA73-839BDFF0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31444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CEA5AD3-58F9-41BE-8442-3E666413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00996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1AC11D5-1459-4A06-A92E-4951F80B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99088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BB219E4-6AB8-4ABB-A6FB-EC3C5B90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68604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063C799-CBF5-48C1-8357-E6F6B7C1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366696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Deadline evaluation against attested source-chain height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2926BBF-F6CD-47CB-A993-DCB32094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36248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2A16039-7065-4A0A-B37D-C71C1256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434340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outcome derived from those facts and contract rules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85E36AC-71DA-408F-B684-8272407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1762200"/>
            <a:ext cx="5362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NOT PROVEN, AND NOT CLAIMED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9A6C17E-2001-4637-A59F-BAE072FC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085840"/>
            <a:ext cx="5362200" cy="1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A82BFCD-9809-4902-8C4D-B690D762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33352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9A52EE9-467B-490B-8D29-991EDE96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31444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That a real invoice exists or the claim is legally enforceable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BE4FEF7-0F01-49B4-B178-762C95C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00996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F031C95-262F-489E-88D1-93B179F4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99088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borrower's real-world identity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9875E23-F739-4D1E-996F-E42F8115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68604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7C800F8-8A6D-4649-A766-53B3993C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366696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resistance: the score is address-level repayment reputation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3F83D29-7957-47C6-A867-35943FC6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4362480"/>
            <a:ext cx="2664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C41A367-05E9-47D2-B1EA-951C9E6E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4343400"/>
            <a:ext cx="498132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Collateral, escrow or collection enforcement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86BD045-6FC8-48D9-AD40-8A15A093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600" cy="87588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9CA93E-0616-477A-90EF-8C2AED77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429160"/>
            <a:ext cx="16189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TOKENS MOVED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78C64D6-260C-4C4B-9875-09D6256D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920" y="5353200"/>
            <a:ext cx="881028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This follows from the Gateway contract itself: it emits only after a successful transfer. The contract is small, public and has no privileged functions.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8128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114BC02-9259-4B98-A2F5-441367FE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93748DF-CD04-42FD-98FC-6629FAF7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INDEPENDENT VERIFICATION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78ED7AC-AA75-4E07-A602-9B123A21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ED09B74-CEA2-4102-AA9D-0AF044A4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C7FF73E-4EE7-4ED2-8FA4-124CFAE6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model and the implementation met only after expectations were sealed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271E3BF-7EFA-4AB3-ADDB-FCF6F2DA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85880"/>
            <a:ext cx="4000320" cy="118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63/63</a:t>
            </a:r>
            <a:endParaRPr sz="7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E671786-2E1A-4BBA-B85C-2ED5E1E5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400"/>
            <a:ext cx="3714480" cy="666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traces matched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zero semantic divergences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9DC9A2C-7221-4EBC-89AC-C090B0FF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840" y="1714680"/>
            <a:ext cx="9000" cy="3219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433C648-7D59-4D03-9970-8CD9B0DB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1695600"/>
            <a:ext cx="399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01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CED853D-9CF1-4E40-A6BB-121B1299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666800"/>
            <a:ext cx="24760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Specification only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C3877CE-3D41-4551-A3EA-0B71930B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1685880"/>
            <a:ext cx="314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Blind agent never read Deals or Credit code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91E1A2F-D3AE-43EF-B168-48138D8F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238480"/>
            <a:ext cx="623844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F1F1D96-C969-4CBA-BE2D-EC6D98A3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495520"/>
            <a:ext cx="399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02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48C4BFB-FFC3-4781-8DF9-4196BEF9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467080"/>
            <a:ext cx="24760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Expectations exported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1A64E01-9214-47AE-8176-93130DC9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2486160"/>
            <a:ext cx="314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Trace corpus hashed before code access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C5C8D99-2CB5-4323-8CE5-E5159D4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038400"/>
            <a:ext cx="623844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D66DAE2-65DC-4307-AD53-7CC2A90E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295800"/>
            <a:ext cx="399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03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6D8A055-993C-42FE-B0B7-0B5F145A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267000"/>
            <a:ext cx="24760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Implementation opened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B834645-5C46-472E-B2A7-62482106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286080"/>
            <a:ext cx="314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Foundry replayed the sealed oracle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B74CEED-36DD-4002-BC5F-EE24A085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838680"/>
            <a:ext cx="623844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3405C53-AD60-40A3-9B8C-1AAB641F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4095720"/>
            <a:ext cx="399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04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592A63F-7A55-482E-A10F-C15627B4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067280"/>
            <a:ext cx="24760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Convergence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62E98E9-72F2-4ED9-AE90-2A82B7F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4086360"/>
            <a:ext cx="314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All 63 traces matched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6329664-AA07-40D7-B2E1-DD8B812F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91200"/>
            <a:ext cx="5190840" cy="74268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DFD5053-0302-4A07-B7CF-2E32D293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334120"/>
            <a:ext cx="238104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16 independently derived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EDD83AA-0159-4A37-8F42-F1C2DE09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629320"/>
            <a:ext cx="23810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strongest evidence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C9E3769-70B7-4021-AFB7-4E05176B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840" y="5191200"/>
            <a:ext cx="5600520" cy="74268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2FC96E8-3A14-4F14-B603-2685BE90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334120"/>
            <a:ext cx="29523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47 specification-prescribed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8102FA8-8896-46C7-AD11-7E36275D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629320"/>
            <a:ext cx="314280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full coverage, but less independent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AB106A8-E912-4473-8189-746540E4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19720"/>
            <a:ext cx="428580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d4df2cd5d8c84960"/>
              </a:rPr>
              <a:t>Open report and manifests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2CCB5C1-7919-4BDB-BF94-8AB2D176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6191280"/>
            <a:ext cx="731484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Not a formal proof of every reachable state. An independently built model and Solidity implementation agreed on the entire pre-sealed corpus.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96457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1F3ABB4-A7B6-425D-A0F7-7A6F900C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2D22196-5153-450F-9900-4CC6AB0E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PERMISSIONLESS WORKER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3FA0D1A-CCAE-45C0-9C39-71F0968B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07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08DCC4B0-8644-476C-ABFC-8561130C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F28D625C-A4FB-4134-858A-C51D1B08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external race ended with zero worker signatures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32DC81F-C9E5-46BC-9F9B-DBE361C6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00200"/>
            <a:ext cx="3333240" cy="199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0</a:t>
            </a:r>
            <a:endParaRPr sz="13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D37FF4A-89B5-44D7-8AEE-1AEDC70B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333600"/>
            <a:ext cx="304776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signatures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A5833A7-094D-4D6B-80B4-13FA6A79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753000"/>
            <a:ext cx="342864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0 broadcasts · nonce unchanged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023840FF-52C2-4844-971E-D52B6F01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60" y="1695600"/>
            <a:ext cx="9000" cy="308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82BD4BF-193B-481B-B918-FCBCD092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1752480"/>
            <a:ext cx="6095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second wallet submitted the proof first.</a:t>
            </a:r>
            <a:endParaRPr sz="2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23642EB-F8C1-455D-ABD7-BCCFCD45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2352600"/>
            <a:ext cx="6190920" cy="83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worker read the on-chain state, found the fact already recorded and closed the task without signing or broadcasting. The deal state remained correct.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B8715AF6-B4FE-4D1C-85AE-2E32BD2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3476520"/>
            <a:ext cx="6190920" cy="1076040"/>
          </a:xfrm>
          <a:prstGeom xmlns:a="http://schemas.openxmlformats.org/drawingml/2006/main" prst="roundRect">
            <a:avLst>
              <a:gd name="adj" fmla="val 10619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4144F77-7C24-4067-AC23-A4A7E826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600360"/>
            <a:ext cx="21902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WHY THIS MATTERS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68BE616-D6FE-40D4-9B8E-4C3328E0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933720"/>
            <a:ext cx="561924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worker can deliver valid facts, but cannot forge one or force a transition the public contracts do not permit.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AFAB220-6D5A-49A2-9895-DD5C4851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372280"/>
            <a:ext cx="11010600" cy="53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worker-only contract method exists. A test-derived allowlist fails if a third state-changing worker method appears.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2553B49-AA0B-43F6-990E-C371BC6C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53120"/>
            <a:ext cx="4000320" cy="24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ee4f2f42203441a"/>
              </a:rPr>
              <a:t>Inspect the S6 coverage matrix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5920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AD6F190-29F7-47D6-9F42-6D34B5FA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F6E5731-7736-4F5D-8B48-44F617DE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PROTOCOL FINDINGS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36C2E78-B7B5-40DB-B3F6-D16CE727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D697F58-AA38-4572-9493-ED754850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1CA6622-E0D6-4F8A-A141-078C09B4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Building on Attestcoin meant measuring its operational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B04C38A-C45A-4F38-B181-3790F9B3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90640"/>
            <a:ext cx="309528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2270FF3-B341-48E5-AE10-6ED5BE75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30952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GAS ACCOUNTING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B9CC516-EEEF-44EB-A29E-B5424764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505240"/>
            <a:ext cx="3095280" cy="186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verifyAndEmit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used identical gas on identical inputs. The team indicated the event should technically be charged and builders may see a </a:t>
            </a: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LOG3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-sized increase.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18BDB053-2763-4FAF-880F-5881B22A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1790640"/>
            <a:ext cx="309528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049D798-F2DE-4166-A1E0-C5FA4962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30952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PROOF RETENTION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67EAABC0-39FD-4B1F-ABB2-F0B727D3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505240"/>
            <a:ext cx="3095280" cy="186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Ordinary-attestation proofs stop verifying after pruning. Under current runtime and archive-node policies, old facts remain re-provable; this is not claimed as immutable.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C451DD28-CAE9-4E5D-9F6F-377C1870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1790640"/>
            <a:ext cx="309528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1289BB2D-4C28-4206-93E9-410D1EDA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0952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ENCODED LEAF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51F060E-F03E-49FB-A169-35871C15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505240"/>
            <a:ext cx="3095280" cy="186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proven leaf is Attestcoin-specific, not RLP. RPC wrapper fields outside canonical roots, including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from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gasUsed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influence nothing in Cr3dX logic.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DE8F4915-607C-4121-BE90-0C71EDA4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781520"/>
            <a:ext cx="11010600" cy="91404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B15DCAA2-E577-4A5E-9A16-A5148D7F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4781520"/>
            <a:ext cx="1714320" cy="91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WORKER POLICY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95340344-4848-4F4E-9AE6-EC031BD3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960" y="4781520"/>
            <a:ext cx="8714880" cy="91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Before each new signature, request a proof again. After signing, recover only by rebroadcasting the exact saved raw transaction.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7EF98607-FAA5-4D49-B2C4-E9A29339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14960"/>
            <a:ext cx="7238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eeba5084923c4dac"/>
              </a:rPr>
              <a:t>Precompile findings ↗</a:t>
            </a: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b44188eae17640db"/>
              </a:rPr>
              <a:t>Attestcoin integration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62298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CA1259BA-7214-4CE4-8C7D-69202E39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E569C072-3742-47B9-8508-C0FF032F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ROADMAP · AS OF 20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184585D-AD99-4675-B6AA-C497EC4D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09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777B6D5E-2855-451A-B1B6-2FD55964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C4A30DD5-2D4F-461E-B080-22994CA2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next steps have named conditions, not vague ambition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E74595B9-EC58-4479-92BF-6172A31C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1714680"/>
            <a:ext cx="22284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DIRECTION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A3289B66-AC2B-4A56-A53F-A11A87E1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1714680"/>
            <a:ext cx="23047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VALUE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02804C6B-A468-45CB-99D9-D2355FAF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714680"/>
            <a:ext cx="28382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WHY DEFERRED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0EAD1E2F-05AE-4A27-8336-21E326DD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14680"/>
            <a:ext cx="2685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UNLOCK CONDITION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45297690-4A4F-4EDF-8104-A49B1721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00160"/>
            <a:ext cx="11010600" cy="1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66C94669-657F-4C1E-9CDE-9C7F8BA5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76480"/>
            <a:ext cx="11010600" cy="61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711A7388-3548-457A-8866-D481B46E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143080"/>
            <a:ext cx="21333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Escrow + enforcement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0401EBB9-536A-4129-88B0-2D5255DE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143080"/>
            <a:ext cx="220932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Real recourse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3C13FD8-2404-46E0-B2B3-F248AD4B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143080"/>
            <a:ext cx="274284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Needs a write back to source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9B863BFE-BBA7-47D8-8976-73B8D82D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43080"/>
            <a:ext cx="25905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Outbound Attestcoin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5BE439C6-470B-4962-B15C-907DE905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838600"/>
            <a:ext cx="21333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Safe reserve release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6F7D42D3-0829-441B-9AA2-D08DEC72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838600"/>
            <a:ext cx="220932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Stops abandoned locks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20A0CEB0-1DD8-42AF-8F55-46CBF3BF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838600"/>
            <a:ext cx="274284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Must block source funding first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9CD5E9D8-4CA9-4303-8DD1-25960539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38600"/>
            <a:ext cx="25905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Same outbound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9AD4ABB3-7EF4-4F68-A21E-F496A123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67160"/>
            <a:ext cx="11010600" cy="61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2055018-B2D9-4398-A2D0-220C03BF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3533760"/>
            <a:ext cx="21333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65D98AB-B1F5-440B-9845-74CF79CF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3533760"/>
            <a:ext cx="220932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Identity-level reputation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9AC7A055-9C40-46B2-81F7-CE4F3D42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533760"/>
            <a:ext cx="274284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Outside v0.1 trust boundary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56D25CC0-EF1D-425B-8871-4398F224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33760"/>
            <a:ext cx="25905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Issuer identity verification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2598663B-5300-4CED-89E1-779CAFF3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229280"/>
            <a:ext cx="21333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batching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815BBD35-447C-4488-A4F8-C46F06E5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229280"/>
            <a:ext cx="220932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Lower per-fact gas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9DCF2F9E-43F0-481A-9477-1BFFBA3F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229280"/>
            <a:ext cx="274284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Atomic-revert recovery cost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CAD0B703-BB9C-4B5E-9AAF-50586338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29280"/>
            <a:ext cx="25905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Revisit at real volume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2C410F90-CD0F-4B5E-8483-04552DD4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57840"/>
            <a:ext cx="11010600" cy="61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1E543281-2544-47BE-809F-9888AF44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924440"/>
            <a:ext cx="21333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Parallel submission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6FF58C4A-9B2B-428B-ADA8-004296B3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924440"/>
            <a:ext cx="220932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Higher throughput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63D23C26-B6F7-46C9-B1F0-5D6BC475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924440"/>
            <a:ext cx="274284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Reintroduces nonce-lane risk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B53AD797-2E63-4CF7-BBC2-4AFA2145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24440"/>
            <a:ext cx="2590560" cy="49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Only under measured load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1C8FE5CD-9FC2-40BF-86DD-C7571642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7684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A8F817C3-8435-4F06-BA94-557F9DE2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05440"/>
            <a:ext cx="1101060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Any semantic change invalidates the sealed 63/63 result. Shipping it requires a new independent model freeze and complete replay.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17712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DA6C85B3-3EAA-4AA6-92EC-E4C4FEE4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47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2D270F9-4708-41B1-B28F-59B1DB34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MEASURED + REPRODUCIBLE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727584A3-668F-4ACD-B7F5-5E09A75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84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10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ED1E0D44-286C-436D-9516-CC187BEB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60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CA4B61F5-ED80-4C10-8C62-6581F1CB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600" cy="72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Every headline number has a transaction, a timestamp or a manifest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5B02704C-4D86-4BD4-A6BA-B5B59D91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19280"/>
            <a:ext cx="4000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MINED CREDITCOIN GAS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F3572A6A-C8F9-4731-B8AD-F5335272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24160"/>
            <a:ext cx="49525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814D126A-CD58-4501-BEF4-564FD257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952640"/>
            <a:ext cx="27144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E2421353-4F91-4B48-9FE9-5F08DCD5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1952640"/>
            <a:ext cx="106632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260,288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2B06B2B8-41C0-4BEE-BFBF-3F52F21B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1971720"/>
            <a:ext cx="9903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8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C67259E9-3EB9-457E-A7D4-24D9FD95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819520"/>
            <a:ext cx="49525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6A54DEEE-6086-4039-80AC-403E882E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448000"/>
            <a:ext cx="27144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69E00F84-EEB2-48EC-B4B5-987976B6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448000"/>
            <a:ext cx="106632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340,382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7036A538-47DA-4B7D-B3B4-956C528F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467080"/>
            <a:ext cx="9903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5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4EC1738D-A941-4370-B3EB-CA5D0B09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314880"/>
            <a:ext cx="49525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6403DBBE-BE7A-4391-96EC-EACDF0BF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943360"/>
            <a:ext cx="27144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9D9CF182-36EF-4000-8E65-1F393FD2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943360"/>
            <a:ext cx="106632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292,348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3757533C-6E70-4F27-BD42-DB201FB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962440"/>
            <a:ext cx="9903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submitted earlier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EDD6296C-F19F-4D18-A2C6-319F0200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809880"/>
            <a:ext cx="49525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403421F4-D7E2-47B2-A5B4-8652EC1A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38360"/>
            <a:ext cx="27144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</a:t>
            </a: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118DA63A-37AF-41C7-AC1B-4A7AD82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3438360"/>
            <a:ext cx="106632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266,056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DBE879F-0570-4158-A6E4-9957E448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3457440"/>
            <a:ext cx="9903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10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5140D3B-1256-45F6-97BB-A96DE65D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619280"/>
            <a:ext cx="54097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SOURCE → FIRST PROOF-READY OBSERVATION → MINED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B27C945B-F2C9-42D7-86D0-72D15A80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952640"/>
            <a:ext cx="16189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Operation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154888DA-AB52-4DFE-8757-F049DDFA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40"/>
            <a:ext cx="12380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Proof-ready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1C0FF67E-1136-40FE-9C43-C741E759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40" y="1952640"/>
            <a:ext cx="138060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Mined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404F110F-2F7A-4F5B-AF5E-A9EF10D1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629080"/>
            <a:ext cx="50479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1A05C201-5B57-431B-BFDB-E3504B37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257560"/>
            <a:ext cx="16189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195962A2-E05B-4995-85CF-3DCB2C50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25756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1,669.539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2AC726CD-9600-4349-84D8-96CAB2E1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25756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1,734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873298ED-BE6B-4F00-AF5A-CF2D85B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181320"/>
            <a:ext cx="50479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834EA9B5-18D0-4D89-93B0-CCEE57E2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809800"/>
            <a:ext cx="16189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A5426C8E-AE44-49E7-94E1-A6613FDD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80980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665.107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8A65CCC-22B8-4E8E-AF6A-610F1034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80980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720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00103B4-AC43-48C6-ADCD-4F47BE37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733920"/>
            <a:ext cx="5047920" cy="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5A04CAE6-6EF5-4E69-A93B-92BDA0E9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362400"/>
            <a:ext cx="16189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8C7A3DBE-D0D2-4859-8066-73609807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336240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588.271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F70FEA93-CD04-47B4-AF08-7618925F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3362400"/>
            <a:ext cx="15235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651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EDDF23BB-C30E-462C-A178-3015E0CD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962520"/>
            <a:ext cx="50479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One testnet run, not an SLA. Exact attestation-transition timestamps were not recorded. Gas rows changed different states and proof shapes; they are evidence records, not a controlled comparison.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D7DF6BA0-AE3F-4B49-8ACA-F506E098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96000"/>
            <a:ext cx="11010600" cy="1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FB7AD693-D93B-44D8-BE12-C2BAD3FD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53040"/>
            <a:ext cx="14284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VERIFY IT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FE42C1B9-6C38-467A-96B9-65BC7281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80" y="5105520"/>
            <a:ext cx="9457920" cy="91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45f5ced60a34977"/>
              </a:rPr>
              <a:t>Live dashboard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4797ba0d82fd4598"/>
              </a:rPr>
              <a:t>Repository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c4238f82fbd14132"/>
              </a:rPr>
              <a:t>Phase B manifests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Local: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forge test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test:worker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test:scripts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Live: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d23a712610ae44aa"/>
              </a:rPr>
              <a:t>S5 live runbook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b4a6a1301154cd5"/>
              </a:rPr>
              <a:t>S6 worker runbook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B570401-B91D-4D9B-A434-66770EDF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29440"/>
            <a:ext cx="110106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Deployed v0.4.8 · Gateway 0x11DD…a749 · Verifier 0xED64…093 · Deals 0x8f7B…3cC · Credit 0x4a66…5C8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5560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2026-08-22T08:16:38.4560000Z</dcterms:created>
  <dcterms:modified xsi:type="dcterms:W3CDTF">2026-08-22T08:16:38.4560000Z</dcterms:modified>
</coreProperties>
</file>